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≈30 с. Тема доповіді: прогнозування зривів плазми в токамаці в реальному часі за даними 100 діагностик симулятора JET-подібної установки. Результати: модель раннього попередження без формул шпаргалки і без підказок симулятора, нейромережа атрибуції механізмів зриву ImpactNet і замкнений контур керування в симуляторі.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Зрив — швидка втрата утримання плазми: після запуску 50–100 мс розвивається передвісник, далі термічне гасіння за 1–2 мс. Модель отримує 100 діагностичних сигналів кожні 5 мс і повертає ймовірність зриву лише з минулих даних. Тривога зараховується, якщо випереджає термічне гасіння щонайменше на заданий запас; поріг підбирається під бюджет хибних тривог. Інтегральна метрика — об'єм, середня площа під кривою TPR(FPR) за запасами 10 мс–1 с. На рисунку — реальні сигнали розряду: густина повільно зростає до межі, модель б'є тривогу за 1,24 с до гасіння.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Базове рішення організаторів — поріг на частці межі Грінвальда та сигналі запирання моди. Об'єм 0,765; на запасі 0,1 с ROC AUC лише 0,69, тобто на ранньому горизонті рішення майже не відрізняє зривні розряди від тихих. Причини: одна величина без пам'яті, шум діагностик безпосередньо впливає на поріг, кінк і радіаційний колапс не враховано.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Перевірено п'ять гіпотез. Чотири підтверджено. Четверта спростована і дала головний висновок: навіть точна інтенсивність зриву λ — слабкий сигнал тривоги, бо зрив — пуассонівський процес; тому потрібні дві моделі: момент і механізм.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Дані генеруються симулятором за незалежними сидами, навчальна і тестова вибірки не перетинаються. Оцінка — офіційний засіб toksym score на чотирьох наборах, 747 розрядів, 228 зривів. Моделі порівнюються парним бутстрепом на тих самих розрядах, критерій прийняття P &gt; 0,9 зафіксовано до експерименту. Ознаки причинні, той самий код працює у навчанні та в заліку; мітку сценарію і формули шпаргалки вилучено, щоб уникнути витоку інформації.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≈60 с. Поріг не характеризує модель: його підбирає засіб оцінки під бюджет хибних тривог, а шкала ймовірностей у різних моделей різна — у XGBoost 0,73–0,76, у наших 0,23–0,42. На малій вибірці поріг ще й нестабільний: у прогоні симулятора 50 розрядів, 35 тихих, бюджет 5 % дозволяє одну хибну тривогу; один тихий розряд задає поріг 0,398, і частка вчасних тривог на 0,1 с — 25 %; при двох дозволених — 67 %. Тому порівнюємо ROC AUC — площу під кривою TPR(FPR), яка від порогу не залежить.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Моделі з фізичними ознаками і міткою сценарію досягали 0,944. Мітку сценарію визнано артефактом симулятора, формули шпаргалки виключено правилами — 0,914; збільшення вибірки до 4 500 розрядів — 0,924, P = 0,97. Ансамбль дав 0,930, але на ноутбуці 16 % кроків перевищують 5 мс; вимогу реального часу порушено, тому фінальне рішення — clean_big.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Усі моделі прогнано в інтерфейсі заліку на однакових 200 розрядах, запас 0,1 с, бюджет 5 %. XGBoost без пам'яті — 25–35 % і 5–9 пропущених зривів; наші моделі з пам'яттю на трьох масштабах і детектором передвісника — 57–64 % і 0–1 пропущених. Ансамбль трохи кращий, але втричі повільніший. Висновок: визначальна інформація — динаміка сигналу, а не статичні фізичні проксі. На скриншотах поле «поріг» замінено на ROC AUC.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Ознаки обчислюються онлайн: експоненційні середні на 50 мс, 250 мс і 1 с, тренди, детектор передвісника — енергія швидкої складової сигналів сідлової петлі і зондів Мірнова, команди актуаторів. Голова A — класифікатор «гасіння не пізніше 0,1 с», голова B — «не пізніше 4,5 с». Вихід — максимум, обнуління на запрограмованому спаді струму, згладжування, біжучий максимум. Дерева перетворено в масиви numpy: 0,9 мс на крок.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≈60 с. На кожному кроці 5 мс модель бачить лише минуле. Ознаки — шість груп, кожна відповідає фізичному сценарію зриву: наближення до межі густини (густина відносно програми), охолодження ядра (SXR, ECE), домішки (неон), МГД-активність і замкнена мода (Мірнов, сідлова петля). Три масштаби згладжування дають рівень, тренд і пам'ять про пік. Цілі навчання — лише моменти гасіння з shots.csv. Формул шпаргалки, мітки сценарію і таймерів програми немає.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Розряд з тестового набору, сценарій зростання густини. Ймовірність моделі тривоги перетинає поріг за 1,24 с до термічного гасіння. ImpactNet: щойно інтенсивність зриву стає помітною, 98–100 % внеску припадає на межу Грінвальда; оцінка λ мережею збігається з істинною λ симулятора, недоступною мережі.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Інтенсивність зриву в симуляторі: λ = 1 − Π(1 − rᵢ³)(1 − r_lm), де rᵢ — сигмоїда відстані до межі Грінвальда, кінк-нестійкості за q95, радіаційного колапсу і межі Тройона. Зрив — пуассонівський процес з інтенсивністю λ. Кожну межу можна відсунути актуатором, але впливи пов'язані: струм плазми діє протилежно на межу Грінвальда і на кінк; густина релаксує за ~0,3 с, домішка неону — за ~0,5 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П'ять вихідних нейронів: межа Грінвальда, кінк, радіація, Тройон, інші. Кожен нейрон — параметрична форма ризику симулятора плюс навчена поправка, тому частки сумуються рівно до 100 %, а загальна інтенсивність — та сама λ. Причинні згортки з вікном 155 мс, GRU — пам'ять розряду. Мітки — істинний ризик, на вхід — лише 100 діагностик. Результат: 49 з 49 механізмів, R² 0,996, 0,6 мс на крок.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≈60 с. Кожен з чотирьох вихідних нейронів — це формула ризику симулятора: сигмоїда від фізичної змінної з порогом c і шириною w, плюс поправка δ від пам'яті мережі. Голова стартує з нулів, тож ненавчена мережа — це чиста фізика; навчання додає лише поправки на шум, затримки і калібрування. Частки, інтенсивність λ та ймовірність зриву за час h виходять з тих самих п'яти чисел. Вчити можна з розміткою ризиків з прихованого стану симулятора (лише як ціль) або лише за моментами зривів — з апріорі механізм визначено в 49 з 49, без апріорі в 41 з 49.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Як сигнал тривоги ImpactNet дає 0,77, але й істинна λ симулятора — лише 0,78: зрив — пуассонівський процес, тихі розряди теж наближаються до меж. Тому функції розділено: модель тривоги визначає момент, ImpactNet — механізм. На реальній установці λ невідома; ImpactNet навчено лише за моментами зривів через пуассонівську правдоподібність — 49 з 49 з фізичним апріорі, 41 без нього.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Симулятор fusion-sim з керуванням у реальному часі: модель тривоги, ImpactNet і порадник. Замкнений контур на 40 розрядах: 11 зривів без керування, 5 з керуванням. Атрибуція на новому рушії, 200 розрядів: 34 з 49; Грінвальд 16 з 16, радіація 14 з 17, кінк лише 4 з 16. Рушій не моделює шум діагностик, тому калібрування моделей, навчених на шумних даних, переноситься не повністю; наступний крок — додати вимірювальний тракт toksym.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≈60 с. Порадник зараз реагує на тривогу, але плазма відповідає на зміну уставки із затримкою: густина ≈ 0,3 с, неон ≈ 0,5 с, а на кінкових розрядах тривога приходить лише за 5–75 мс до гасіння. План — прогнозне керування: кожні 0,25 с копія стану програє 5 варіантів дій на 1,5 с уперед і вибирає дію з найменшою ціною: ймовірність зриву плюс втрата продуктивності. Уставки в копії тримаються на поточному рівні, щоб вчитель не бачив запланованих збурень — інакше учень не зможе його навчитися. Копія знає прихований стан, тому вона — вчитель і верхня межа; на машину переноситься учень, що вибирає дію лише з діагностик і запускається від λ, яку оцінює ImpactNet. Після першого учня — раунд DAgger.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Моделі навчені на toksym; fusion-sim — інший рушій, без шуму діагностик. 200 розрядів, жодного донавчання. Модель тривоги переноситься: ROC AUC 0,902 проти 0,934 на запасі 0,1 с. ImpactNet: межа Грінвальда 16 з 16, радіація 14 з 17, кінк лише 4 з 16. В 11 з 16 кінкових зривів мережа видає ту саму частку Грінвальда 97,6 % — це насичення входу, а не фізика. Масштабування часток не рятує: 36 з 49 при 5-кратній перевірці. Отже, потрібне донавчання на даних нового рушія.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Модель раннього попередження без формул і без підказок симулятора: об'єм 0,924 проти 0,765, ROC AUC 0,998 на 30 мс. ImpactNet визначає механізм зриву: 49 з 49. Замкнений контур удвічі зменшує кількість зривів; на іншому рушії тривога переноситься без донавчання. Поріг спрацювання неінформативний, моделі порівнюються за ROC AUC. Код і звіти — у репозиторії.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Arial"/>
              </a:rPr>
              <a:t>Хакатон ФМФ КПІ, 9–11 жовтня 2026 р.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7899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0F172A"/>
                </a:solidFill>
                <a:latin typeface="Arial"/>
              </a:rPr>
              <a:t>Прогнозування та атрибуція зривів плазми в токамаці в реальному часі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290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475569"/>
                </a:solidFill>
                <a:latin typeface="Arial"/>
              </a:rPr>
              <a:t>Модель раннього попередження за 100 діагностиками, нейромережа ImpactNet з фізичним апріорі та замкнений контур керування в симуляторі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720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Команда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98348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Дмитрій Почко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Олександр Чорій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498348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Ілля Симоненко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Олена Сергієнко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498348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Софія Щербина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Арина Яковець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 Постановка задачі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84632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Фізичний процес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запуск зриву, передвісник (запирання моди, locked mode) 50–100 мс, термічне гасіння 1–2 мс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Вхідні дані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100 діагностик з кроком 5 мс: магнітні зонди, інтерферометр, ECE, болометри, SXR, газонапуск, нагрів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Задача машинного навчання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онлайн-класифікація часового ряду: p(t) ∈ [0, 1] лише з минулих значень, не довше 5 мс на крок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Критерій якості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тривога не пізніше ніж за lead до гасіння при частці хибних тривог не вище бюджету; об'єм — середня AUC за запасами від 0,01 до 1 с</a:t>
            </a:r>
          </a:p>
        </p:txBody>
      </p:sp>
      <p:pic>
        <p:nvPicPr>
          <p:cNvPr id="5" name="Picture 4" descr="shot_sign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1325880"/>
            <a:ext cx="5897880" cy="37051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5076756"/>
            <a:ext cx="5897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 – Діагностичні сигнали розряду з граничною густиною: тривога моделі (пунктир) і термічне гасіння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2 Аналіз базового рішення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800" b="1" i="0">
                <a:solidFill>
                  <a:srgbClr val="C2410C"/>
                </a:solidFill>
                <a:latin typeface="Arial"/>
              </a:rPr>
              <a:t>0,765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об'єм заліку базового рішення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8892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C2410C"/>
                </a:solidFill>
                <a:latin typeface="Arial"/>
              </a:rPr>
              <a:t>0,688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ROC AUC на запасі 0,1 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6908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C2410C"/>
                </a:solidFill>
                <a:latin typeface="Arial"/>
              </a:rPr>
              <a:t>0,935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ROC AUC на запасі 30 мс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417320"/>
            <a:ext cx="722376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Принцип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поріг на частці межі Грінвальда f_GW і сигналі запирання моди із сідлової петлі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Недолік 1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одна фізична величина: кінк-нестійкість (q95) і радіаційний колапс не враховано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Недолік 2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відсутність пам'яті: миттєве значення без трендів і передісторії розряду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Недолік 3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шум і дрейф калібрування діагностик безпосередньо зсувають поріг спрацювання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Мета роботи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раніше виявляти зрив при тому самому бюджеті хибних тривог і визначати його механізм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ROC AUC на рівні розрядів, офіційний засіб оцінки toksym score (набори сид 1 і сид 1 shift)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3 Гіпотези дослідження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1 – Гіпотези та результати їх перевірки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109960" cy="395020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548640"/>
                <a:gridCol w="4937760"/>
                <a:gridCol w="3794760"/>
                <a:gridCol w="1828800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№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Гіпотеза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Результат перевірки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Висновок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H1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Поєднання детектора передвісника і раннього попередження перевершує одну модель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+0,16 об'єму до базового рішення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H2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Формули шпаргалки не є необхідними для якісного прогнозу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без них об'єм 0,924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H3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Мітка сценарію в метаданих є артефактом симулятора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scen_none виключає зарахований зрив; вилучення: −0,01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H4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Точна інтенсивність зриву λ достатня для тривоги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істинна λ дає об'єм лише 0,78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спростовано</a:t>
                      </a:r>
                    </a:p>
                  </a:txBody>
                  <a:tcPr marL="91440" marR="91440" marT="27432" marB="27432" anchor="ctr">
                    <a:solidFill>
                      <a:srgbClr val="FFF7E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H5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Фізичне апріорі забезпечує атрибуцію механізмів без розмітки λ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49 з 49 з апріорі, 41 з 49 без нього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4 Методика валідації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Незалежні вибірки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генерація за сидами; навчання на 4 500 розрядах, тест на 4 офіційних наборах (747 розрядів, 228 зривів)</a:t>
            </a:r>
          </a:p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Засіб оцінки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офіційний toksym score; спонтанні зриви і контакт зі стінкою виключено правилами заліку</a:t>
            </a:r>
          </a:p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Статистичне порівняння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парний бутстреп на тих самих розрядах; критерій прийняття P &gt; 0,9 визначено апріорі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371600"/>
            <a:ext cx="534924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Причинність ознак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використовуються лише минулі значення; один і той самий клас ознак у навчанні і на заліку</a:t>
            </a:r>
          </a:p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Відтворюваність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результати на ноутбуці і на сервері збігаються, оскільки симулятор детермінований</a:t>
            </a:r>
          </a:p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Відсутність витоку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вилучено мітку сценарію та формули шпаргалки; мітки використовуються лише як ціль навчання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5 Неінформативність порогу спрацювання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6675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2 – ROC AUC на рівні розрядів залежно від запасу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6675120" cy="41148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03120"/>
                <a:gridCol w="914400"/>
                <a:gridCol w="914400"/>
                <a:gridCol w="914400"/>
                <a:gridCol w="914400"/>
                <a:gridCol w="9144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модель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30 мс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0,1 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0,3 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1 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об'єм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бейзлайн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0,688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0,665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0,583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0,768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v6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0,857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v8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0,866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0,944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nocs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0,900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0,891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0,843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clean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0,897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0,884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0,795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clean_big (фінальна)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0,910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0,899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0,816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0,924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clean_9k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0,904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0,824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ens5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0,906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0,831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806440"/>
            <a:ext cx="6675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Офіційні набори toksym score (базове рішення — 2 набори)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1325880"/>
            <a:ext cx="40690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Шкала ймовірностей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при бюджеті 5 % поріг XGBoost становить 0,73–0,76, наших моделей 0,23–0,42; порівнювати пороги некоректно</a:t>
            </a:r>
          </a:p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Нестабільність порогу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на малих вибірках поріг задає один тихий розряд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352044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3 – Поріг і частка вчасних тривог (50 розрядів)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589520" y="3886200"/>
          <a:ext cx="4069080" cy="168249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00200"/>
                <a:gridCol w="1051560"/>
                <a:gridCol w="14173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дозволено хибних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поріг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вчасно, 0,1 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1 (2,9 %)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0,398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25 %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2 (5,7 %)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0,333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67 %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3 (8,6 %)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0,288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75 %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589520" y="5623560"/>
            <a:ext cx="4069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Симулятор fusion-sim, модель v8: ROC AUC 0,885 (0,1 с) і 0,983 (30 мс)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6 Еволюція моделей і вибір фінального рішення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7</a:t>
            </a:r>
          </a:p>
        </p:txBody>
      </p:sp>
      <p:pic>
        <p:nvPicPr>
          <p:cNvPr id="4" name="Picture 3" descr="evol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7589520" cy="333478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660669"/>
            <a:ext cx="7589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2 – Об'єм офіційного заліку для послідовних версій моделі (747 розрядів)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1371600"/>
            <a:ext cx="31546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Фізичні ознаки і сценарій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v6 і v8: 0,937–0,944; використовують формули шпаргалки і мітку сценарію</a:t>
            </a:r>
          </a:p>
          <a:p>
            <a:pPr algn="l">
              <a:spcAft>
                <a:spcPts val="14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Без формул і сценарію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clean: 0,914; на 4 500 розрядах 0,924 (парний бутстреп, P = 0,97)</a:t>
            </a:r>
          </a:p>
          <a:p>
            <a:pPr algn="l">
              <a:spcAft>
                <a:spcPts val="14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Відхилено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ансамбль ens5: 0,930, але 3 мс на крок і 16 % кроків понад 5 мс на ноутбуці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7 Що ми перепробували: залік на спільних 200 розрядах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8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07008"/>
            <a:ext cx="5449824" cy="947865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xgb_phys_au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34440"/>
            <a:ext cx="5394960" cy="89300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173161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а) XGBoost Physics: крок без пам'яті, 25 фізичних агрегатів</a:t>
            </a:r>
          </a:p>
        </p:txBody>
      </p:sp>
      <p:sp>
        <p:nvSpPr>
          <p:cNvPr id="7" name="Rectangle 6"/>
          <p:cNvSpPr/>
          <p:nvPr/>
        </p:nvSpPr>
        <p:spPr>
          <a:xfrm>
            <a:off x="6190488" y="1207008"/>
            <a:ext cx="5449824" cy="947865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ard_xgb_dyn_au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234440"/>
            <a:ext cx="5394960" cy="89300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2173161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б) XGBoost Dynamics: + 119 часових ознак (лаги, швидкості)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7" y="2666937"/>
            <a:ext cx="5449824" cy="734266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ard_v6_au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2694369"/>
            <a:ext cx="5394960" cy="67940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3419491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в) v6: дві голови HGB, формули шпаргалки і мітка сценарію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0488" y="2666937"/>
            <a:ext cx="5449824" cy="72923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ard_v6b_au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0" y="2694369"/>
            <a:ext cx="5394960" cy="67437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17920" y="3414459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г) v6b: інше налаштування голови раннього попередження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1207" y="3913267"/>
            <a:ext cx="5449824" cy="756406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ard_ens5_au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3940699"/>
            <a:ext cx="5394960" cy="70154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4687962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д) ens5: ансамбль 5 моделей, 3 мс на крок, відхилено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0488" y="3913267"/>
            <a:ext cx="5449824" cy="756406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ui_clean_big_01_au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7920" y="3940699"/>
            <a:ext cx="5394960" cy="70154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217920" y="4687962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е) clean_big (здача): без формул, сценарію і таймерів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4864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3 – Скриншоти інтерфейсу заліку: запас 0,1 с, бюджет 5 % (поле «поріг» замінено на ROC AUC; XGBoost — валідаційна, решта — офіційні набори toksym)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8978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Висновок: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визначальна інформація — динаміка сигналу і пам'ять (тренди, передвісник), а не статичні фізичні проксі: 57–64 % вчасно проти 25–35 %.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8 Архітектура моделі раннього попередження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920240"/>
            <a:ext cx="1746504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E7490"/>
                </a:solidFill>
                <a:latin typeface="Arial"/>
              </a:rPr>
              <a:t>100 діагностик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крок 5 мс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35808" y="182880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45536" y="1920240"/>
            <a:ext cx="1746504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6D28D9"/>
                </a:solidFill>
                <a:latin typeface="Arial"/>
              </a:rPr>
              <a:t>Причинні ознаки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EMA 50 мс, 250 мс, 1 с;
тренди; передвісник;
актуатори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60320" y="2697480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5047488" y="2697480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0" y="1325880"/>
            <a:ext cx="22860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77840" y="1399032"/>
            <a:ext cx="210312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047857"/>
                </a:solidFill>
                <a:latin typeface="Arial"/>
              </a:rPr>
              <a:t>Голова A (HGB)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P(гасіння ≤ 0,1 с)
передвісник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3154680"/>
            <a:ext cx="22860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0" y="3227832"/>
            <a:ext cx="210312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047857"/>
                </a:solidFill>
                <a:latin typeface="Arial"/>
              </a:rPr>
              <a:t>Голова B (HGB)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P(гасіння ≤ 4,5 с)
раннє попередження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909560" y="2697480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0" y="1828800"/>
            <a:ext cx="324612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49640" y="1920240"/>
            <a:ext cx="297180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C2410C"/>
                </a:solidFill>
                <a:latin typeface="Arial"/>
              </a:rPr>
              <a:t>p = max(A, 0,3·B)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0 на запрограмованому спаді струму,
згладжування, біжучий максимум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709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4 – Структурна схема моделі раннього попередження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166360"/>
            <a:ext cx="11064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Реалізація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інференс на numpy, 0,9 мс на крок; навчання на 4 500 розрядах з поділом за сидами; без формул шпаргалки і без мітки сценарію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8.1 Що закладено в модель тривоги: 61 причинна ознака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7680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4 – Групи ознак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7680960" cy="422452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00200"/>
                <a:gridCol w="3703320"/>
                <a:gridCol w="2377440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група (кількість)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що містить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що це означає фізично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фаза розряду (4)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струм відносно програми, наростання, спад, час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де ми в програмі розряду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сирі канали (15)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Ip, Bt, діамагнітна енергія, Vloop, хорди густини, подача D₂ і Ne, нейтрони, зонд дивертора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повільний стан плазми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6 величин × 5 (30)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ne/програма, SXR і ECE ядра, Dα, RMS Мірнова, сідлова петля: EMA 50 мс, 250 мс, 1 с, тренд, максимум на плато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наближення до межі, швидкість наближення, пам'ять про пік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події (4)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стрибок Dα, пік сідлової петлі, падіння Te і SXR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охолодження ядра перед зривом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домішки (3)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команда неону, її інтеграл, нахил програми густини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радіаційні втрати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передвісник (5)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високочастотна складова сідлової петлі (20, 50 мс) і Мірнова, їх ріст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ріст МГД-моди за 10–100 мс до гасіння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595360" y="1325880"/>
            <a:ext cx="30632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Причинність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кожна ознака рахується крок за кроком лише з минулого; той самий код у навчанні і на заліку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Цілі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голова A — «гасіння через ≤ 0,1 с», голова B — «≤ 4,5 с»; лише з shots.csv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Навчання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градієнтний бустинг (HGB), 4 500 розрядів, поділ за сидами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Вилучено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формули шпаргалки, мітку сценарію, таймери від подій програми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9 Приклад роботи моделей на розряді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11</a:t>
            </a:r>
          </a:p>
        </p:txBody>
      </p:sp>
      <p:pic>
        <p:nvPicPr>
          <p:cNvPr id="4" name="Picture 3" descr="shot_tr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8138160" cy="40635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389433"/>
            <a:ext cx="8138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5 – Ймовірність моделі раннього попередження (зверху) і розклад інтенсивності зриву ImpactNet (знизу)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52560" y="1371600"/>
            <a:ext cx="2651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047857"/>
                </a:solidFill>
                <a:latin typeface="Arial"/>
              </a:rPr>
              <a:t>1,24 с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випередження тривоги (поріг для FPR 5 %)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2560" y="2743200"/>
            <a:ext cx="2651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C2410C"/>
                </a:solidFill>
                <a:latin typeface="Arial"/>
              </a:rPr>
              <a:t>98–100 %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внесок межі Грінвальда (f_GW → 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4114800"/>
            <a:ext cx="2651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6D28D9"/>
                </a:solidFill>
                <a:latin typeface="Arial"/>
              </a:rPr>
              <a:t>0,90 = 0,90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λ ImpactNet і істинна λ у момент зриву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10 Фізична модель зриву: операційні межі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B45309"/>
                </a:solidFill>
                <a:latin typeface="Arial"/>
              </a:rPr>
              <a:t>λ = 1 − Π(1 − rᵢ³)(1 − r_lm),   rᵢ = σ((xᵢ − cᵢ)/wᵢ),   </a:t>
            </a:r>
            <a:r>
              <a:rPr sz="1700" b="0" i="0">
                <a:solidFill>
                  <a:srgbClr val="475569"/>
                </a:solidFill>
                <a:latin typeface="Arial"/>
              </a:rPr>
              <a:t>P(зрив за час h) = 1 − exp(−∫λ dt)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5 – Операційні межі та керувальні впливи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377440"/>
          <a:ext cx="11109960" cy="26517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11680"/>
                <a:gridCol w="1828800"/>
                <a:gridCol w="1371600"/>
                <a:gridCol w="3246120"/>
                <a:gridCol w="2651760"/>
              </a:tblGrid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механізм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параметр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межа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керувальний вплив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побічний ефект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Межа Грінвальда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f_GW = n̄ₑ / n_GW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f_GW ≈ 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уставка густини, ↓ D₂; ↑ Iₚ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↑ Iₚ знижує q95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Кінк-нестійкість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q95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q95 ≈ 2,44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Iₚ; ↑ Bₜ, κ, 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Iₚ підвищує f_GW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Радіаційний колапс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P_rad / P_in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≈ 0,8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неон → 0; ↑ нагрів; ↓ густина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нагрів підвищує βN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Межа Тройона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βN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βN ≈ 2,4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нагрів; ↑ Iₚ, Bₜ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погіршення утримання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257800"/>
            <a:ext cx="11064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Зв'язаність впливів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струм плазми діє протилежно на межу Грінвальда і на кінк-нестійкість; густина релаксує за ~0,3 с, неон накопичується за ~0,5 с, тому керування має випереджати тривогу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11 Нейромережа ImpactNet: атрибуція механізмів зриву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15544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37160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0E7490"/>
                </a:solidFill>
                <a:latin typeface="Arial"/>
              </a:rPr>
              <a:t>218 входів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100 діагностик,
маски відмов,
18 фізичних величин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130552" y="2057400"/>
            <a:ext cx="219456" cy="256032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377440" y="1325880"/>
            <a:ext cx="15544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50592" y="137160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1D4ED8"/>
                </a:solidFill>
                <a:latin typeface="Arial"/>
              </a:rPr>
              <a:t>Згортки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причинні,
вікно 155 мс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959352" y="2057400"/>
            <a:ext cx="219456" cy="256032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06240" y="1325880"/>
            <a:ext cx="15544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79392" y="137160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6D28D9"/>
                </a:solidFill>
                <a:latin typeface="Arial"/>
              </a:rPr>
              <a:t>GRU (128)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пам'ять
розряду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788152" y="2057400"/>
            <a:ext cx="219456" cy="256032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0" y="1325880"/>
            <a:ext cx="15544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08192" y="137160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C2410C"/>
                </a:solidFill>
                <a:latin typeface="Arial"/>
              </a:rPr>
              <a:t>5 нейронів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фізичне
апріорі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200400"/>
            <a:ext cx="704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6 – Структурна схема ImpactNet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703320"/>
            <a:ext cx="70408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Виходи визначаються однозначно через внески механізмів: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частка механізму = 100·Cₖ / ΣC, де Cₖ = −ln(1 − rₖᵖ); сума часток дорівнює 100 %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λ = 1 − exp(−ΣC) — тотожна формулі симулятора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P(зрив за час h) = 1 − exp(−λh)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1371600"/>
            <a:ext cx="3566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6D28D9"/>
                </a:solidFill>
                <a:latin typeface="Arial"/>
              </a:rPr>
              <a:t>49 з 49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механізм зриву у момент запуску (20 Грінвальд, 15 кінк, 14 радіація)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2788920"/>
            <a:ext cx="3566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047857"/>
                </a:solidFill>
                <a:latin typeface="Arial"/>
              </a:rPr>
              <a:t>0,996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R² інтенсивності зриву λ на тестовій вибірці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4206240"/>
            <a:ext cx="3566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0E7490"/>
                </a:solidFill>
                <a:latin typeface="Arial"/>
              </a:rPr>
              <a:t>0,6 мс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тривалість кроку інференсу (numpy)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200 тестових розрядів; порівняння архітектур: GRU ≈ LSTM ≈ TCN &gt; модель без пам'яті; обрано GRU (стан O(1) у потоці)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11.1 Що всередині ImpactNet: фізика плюс поправка мережі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14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80160"/>
            <a:ext cx="6035040" cy="23317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5760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475569"/>
                </a:solidFill>
                <a:latin typeface="Arial"/>
              </a:rPr>
              <a:t>Вихідний нейрон k</a:t>
            </a:r>
          </a:p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F172A"/>
                </a:solidFill>
                <a:latin typeface="Arial"/>
              </a:rPr>
              <a:t>rₖ = σ( (xₖ − cₖ) / wₖ  +  δₖ(hₜ) )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0F172A"/>
                </a:solidFill>
                <a:latin typeface="Arial"/>
              </a:rPr>
              <a:t>xₖ — фізична змінна: f_GW, 2,2/q95, P_rad/P_in, βN/2,8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0F172A"/>
                </a:solidFill>
                <a:latin typeface="Arial"/>
              </a:rPr>
              <a:t>cₖ, wₖ — поріг і ширина межі, стартують з формули симулятора: 1,00/0,08; 0,90/0,05; 0,80/0,08; 0,85/0,06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0F172A"/>
                </a:solidFill>
                <a:latin typeface="Arial"/>
              </a:rPr>
              <a:t>δₖ(hₜ) — поправка від пам'яті мережі; на старті нуль, тобто ненавчена мережа = чиста фізика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0F172A"/>
                </a:solidFill>
                <a:latin typeface="Arial"/>
              </a:rPr>
              <a:t>5-й нейрон «інші» (замкнена мода тощо) — лише з пам'яті мережі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94760"/>
            <a:ext cx="6035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475569"/>
                </a:solidFill>
                <a:latin typeface="Arial"/>
              </a:rPr>
              <a:t>З тих самих п'яти чисел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Cₖ = −ln(1 − rₖᵖ),   частка = Cₖ / ΣC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λ = 1 − e^(−ΣC),   P(зрив за час h) = 1 − e^(−λh)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p = 3 для меж, як у симуляторі; сума часток рівно 100 %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1234440"/>
            <a:ext cx="4709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6 – Входи і навчання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949440" y="1600200"/>
          <a:ext cx="4709160" cy="405993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08760"/>
                <a:gridCol w="3200400"/>
              </a:tblGrid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складова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що закладено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100 каналів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asinh-стиснення хвостів, медіана та IQR з навчальної вибірки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100 масок відмов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1, якщо прилад не дав даних: мережа знає, чому не вірити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18 фізичних величин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f_GW, q95, P_rad/P_in, βN, W, dW/dt, τE, H98, запас до L-H, Te ядра …; причинно з каналів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пам'ять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згортки 155 мс (швидкі передвісники) + GRU(128): стан O(1) у потоці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навчання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ризики з прихованого стану симулятора — лише як ціль, ніколи як вхід; або лише моменти зривів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48640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Без фізичного апріорі, лише за моментами зривів: механізм визначено в 41 з 49; з апріорі — 49 з 49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12 Інтенсивність зриву як сигнал тривоги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15</a:t>
            </a:r>
          </a:p>
        </p:txBody>
      </p:sp>
      <p:pic>
        <p:nvPicPr>
          <p:cNvPr id="4" name="Picture 3" descr="ora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5394960" cy="40168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342702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7 – Об'єм як сигнал тривоги на 200 тестових розрядах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325880"/>
            <a:ext cx="5303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Розподіл функцій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модель раннього попередження визначає момент зриву, ImpactNet — його механізм</a:t>
            </a:r>
          </a:p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Навчання без розмітки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пуассонівська правдоподібність Σ log λ(t_зриву) − ∫λ dt; λ не потрібна як мітка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3200400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7 – Атрибуція механізмів залежно від способу навчання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355080" y="3566160"/>
          <a:ext cx="5303520" cy="20116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834640"/>
                <a:gridCol w="1463040"/>
                <a:gridCol w="100584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спосіб навчання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механізм визначено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R² λ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з мітками λ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49 з 49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лише моменти зривів, з апріорі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49 з 49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0,948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без фізичного апріорі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41 з 49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0,660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13 Замкнений контур керування в симуляторі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16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6089903" cy="3038605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sim_impact_au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6035040" cy="29837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309621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8 – Атрибуція механізмів зриву в симуляторі fusion-sim, пробний прогін 50 розрядів: 10 з 12 (поле «поріг» замінено на ROC AUC цього прогону)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041141"/>
            <a:ext cx="603504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32581"/>
            <a:ext cx="5760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E7490"/>
                </a:solidFill>
                <a:latin typeface="Arial"/>
              </a:rPr>
              <a:t>Чому ROC AUC замість порогу. </a:t>
            </a:r>
            <a:r>
              <a:rPr sz="1100" b="0" i="0">
                <a:solidFill>
                  <a:srgbClr val="475569"/>
                </a:solidFill>
                <a:latin typeface="Arial"/>
              </a:rPr>
              <a:t>Поріг спрацювання неінформативний: його підбирає засіб оцінки під бюджет хибних тривог, а на 50 розрядах поріг задає один тихий розряд (див. розділ 5); тому наведено ROC AUC.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371600"/>
            <a:ext cx="4663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600" b="1" i="0">
                <a:solidFill>
                  <a:srgbClr val="C2410C"/>
                </a:solidFill>
                <a:latin typeface="Arial"/>
              </a:rPr>
              <a:t>11 → 5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зривів на 40 розрядах з автокеруванням і без нього (−55 %)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2743200"/>
            <a:ext cx="470916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Контур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діагностики → модель тривоги (коли) → ImpactNet (чому) → порадник → зміна уставок; цикл 5 мс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Порадник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головна загроза з часток ImpactNet → конкретна дія (наприклад, знизити уставку густини); автокерування виконує її, коли p моделі вище порогу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Обмеження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40 розрядів: різниця ще не статистично значуща (p ≈ 0,1, точний тест); для p &lt; 0,01 з імовірністю 0,84 потрібно ≈ 200 розрядів на режим; ціну керування ще не оцінено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5623560"/>
            <a:ext cx="4709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Arial"/>
              </a:rPr>
              <a:t>Симулятор: </a:t>
            </a:r>
            <a:r>
              <a:rPr sz="1000" b="0" i="0">
                <a:solidFill>
                  <a:srgbClr val="1D4ED8"/>
                </a:solidFill>
                <a:latin typeface="Arial"/>
              </a:rPr>
              <a:t>github.com/lurbaby/plasma_simulator</a:t>
            </a:r>
            <a:r>
              <a:rPr sz="1000" b="0" i="0">
                <a:solidFill>
                  <a:srgbClr val="475569"/>
                </a:solidFill>
                <a:latin typeface="Arial"/>
              </a:rPr>
              <a:t> (форк fusionsimulator.io, D. Burgess, GPL-3.0; командою додано залік toksym і керування актуаторами з моделі)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13.1 Наступний крок: прогнозне керування і навчання учня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237744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21945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E7490"/>
                </a:solidFill>
                <a:latin typeface="Arial"/>
              </a:rPr>
              <a:t>Стан розряду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копія рушія; уставки на поточному рівні, без запланованих збурень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971800" y="1856231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83280" y="1325880"/>
            <a:ext cx="237744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0" y="1417320"/>
            <a:ext cx="21945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6D28D9"/>
                </a:solidFill>
                <a:latin typeface="Arial"/>
              </a:rPr>
              <a:t>5 варіантів дій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нічого; густина −10 / −20 %; неон; нагрів або струм; «послабити»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806440" y="1856231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325880"/>
            <a:ext cx="237744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59" y="1417320"/>
            <a:ext cx="21945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1D4ED8"/>
                </a:solidFill>
                <a:latin typeface="Arial"/>
              </a:rPr>
              <a:t>Прогноз 1,5 с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сума λ і втрата продуктивності для кожного варіанта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641080" y="1856231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052560" y="1325880"/>
            <a:ext cx="237744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0" y="1417320"/>
            <a:ext cx="21945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C2410C"/>
                </a:solidFill>
                <a:latin typeface="Arial"/>
              </a:rPr>
              <a:t>Вибір дії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мінімум ціни J, кожні 0,25 с; запуск від λ, а не від тривоги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743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9 – Схема вчителя: прогнозне керування на копії рушія (план; потребує копіювання стану рушія)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200400"/>
            <a:ext cx="5669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J = P(зрив за горизонт) + α · втрата продуктивності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P = 1 − exp(−Σλ·Δt) по прогнозу копії; без другого доданку найкращою дією завжди було б «вимкнути все»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20624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8 – Оцінка часових масштабів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48640" y="4572000"/>
          <a:ext cx="5669280" cy="197510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834640"/>
                <a:gridCol w="283464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величина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значення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реакція плазми на уставку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густина ≈ 0,3 с, неон ≈ 0,5 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попередження на кінкових розрядах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5–75 мс (200 розрядів fusion-sim)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горизонт прогнозу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1,5 с = 300 кроків ≈ 5 τ густини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обчислення на рішення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5 × 300 = 1 500 кроків рушія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внесення зміни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1–3 кадри = 5–15 мс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766560" y="3154680"/>
            <a:ext cx="48920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Чому копія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реактивний порадник запізнюється: тривога за 5–75 мс, а плазма відповідає за 0,3–0,5 с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Дані для учня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ризик і втрата продуктивності кожного варіанта окремо (α підбирається потім, м'які мітки) та поточні множники уставок (щоб не повторювати дію)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Учень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вибирає дію лише з діагностик; запускається від λ, яку оцінює ImpactNet; далі раунд DAgger: учень керує, вчитель розмічає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Чесно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копія знає прихований стан плазми, тому її результат — верхня межа; на машину переноситься учень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14 Перенесення моделей на інший рушій без донавчання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18</a:t>
            </a:r>
          </a:p>
        </p:txBody>
      </p:sp>
      <p:pic>
        <p:nvPicPr>
          <p:cNvPr id="4" name="Picture 3" descr="sim2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34440"/>
            <a:ext cx="7589520" cy="35296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809776"/>
            <a:ext cx="7589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10 – Модель v8 + ImpactNet у симуляторі fusion-sim, 200 розрядів, 49 зарахованих зривів; праворуч — ті самі онлайн-виходи моделі з measured.csv, різниця лише у виборі моменту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58200" y="1325880"/>
            <a:ext cx="32004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Тривога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переноситься: ROC AUC 0,902 проти 0,934 на 0,1 с, 0,970 на 30 мс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Знахідка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симулятор брав частки в момент максимуму λ по всьому розряду, а він припадав на прогрів мережі при t = 5 мс, коли плазми ще нема (типова відповідь «Грінвальд 97,6 %»)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Виправлення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максимум λ лише там, де є плазма: 34 → 45 з 49, кінк 4 → 15 з 16, без донавчання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Залишок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3 радіаційні зриви названо кінком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15 Висновки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60350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1.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Модель раннього попередження без формул шпаргалки і мітки сценарію досягає об'єму 0,924 (базове рішення 0,765) і ROC AUC 0,998 на запасі 30 мс.</a:t>
            </a:r>
          </a:p>
          <a:p>
            <a:pPr algn="l">
              <a:spcAft>
                <a:spcPts val="12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2.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Нейромережа ImpactNet визначає механізм зриву в 49 з 49 випадків і відтворює інтенсивність зриву з R² 0,996; з фізичним апріорі вона навчається і без розмітки λ.</a:t>
            </a:r>
          </a:p>
          <a:p>
            <a:pPr algn="l">
              <a:spcAft>
                <a:spcPts val="12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3.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Поріг спрацювання не характеризує модель; коректне порівняння — за ROC AUC.</a:t>
            </a:r>
          </a:p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4.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Замкнений контур керування в симуляторі зменшує кількість зривів з 11 до 5 на 40 розрядах; на іншому рушії тривога працює без донавчання (ROC AUC 0,902), кінк потребує донавчання.</a:t>
            </a:r>
          </a:p>
        </p:txBody>
      </p:sp>
      <p:pic>
        <p:nvPicPr>
          <p:cNvPr id="5" name="Picture 4" descr="qr_plasma-disruption-predi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1371600"/>
            <a:ext cx="2103120" cy="2103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12280" y="3611880"/>
            <a:ext cx="2651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Код, моделі, звіти заліку</a:t>
            </a:r>
          </a:p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1D4ED8"/>
                </a:solidFill>
                <a:latin typeface="Arial"/>
              </a:rPr>
              <a:t>github.com/
llllenah/plasma-disruption-prediction</a:t>
            </a:r>
          </a:p>
        </p:txBody>
      </p:sp>
      <p:pic>
        <p:nvPicPr>
          <p:cNvPr id="7" name="Picture 6" descr="qr_plasma_simula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19" y="1371600"/>
            <a:ext cx="2103120" cy="2103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72600" y="3611880"/>
            <a:ext cx="2651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Симулятор з керуванням</a:t>
            </a:r>
          </a:p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1D4ED8"/>
                </a:solidFill>
                <a:latin typeface="Arial"/>
              </a:rPr>
              <a:t>github.com/
lurbaby/plasma_simulator</a:t>
            </a:r>
          </a:p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475569"/>
                </a:solidFill>
                <a:latin typeface="Arial"/>
              </a:rPr>
              <a:t>форк fusionsimulator.io, GPL-3.0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150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0F172A"/>
                </a:solidFill>
                <a:latin typeface="Arial"/>
              </a:rPr>
              <a:t>Дякуємо за увагу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