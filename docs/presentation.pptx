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F97316"/>
              </a:solidFill>
            </c:spPr>
          </c:dPt>
          <c:dPt>
            <c:idx val="1"/>
            <c:spPr>
              <a:solidFill>
                <a:srgbClr val="6366F1"/>
              </a:solidFill>
            </c:spPr>
          </c:dPt>
          <c:dPt>
            <c:idx val="2"/>
            <c:spPr>
              <a:solidFill>
                <a:srgbClr val="10B981"/>
              </a:solidFill>
            </c:spPr>
          </c:dPt>
          <c:dPt>
            <c:idx val="3"/>
            <c:spPr>
              <a:solidFill>
                <a:srgbClr val="64748B"/>
              </a:solidFill>
            </c:spPr>
          </c:dPt>
          <c:cat>
            <c:strRef>
              <c:f>Sheet1!$A$2:$A$5</c:f>
              <c:strCache>
                <c:ptCount val="4"/>
                <c:pt idx="0">
                  <c:v>Бейзлайн</c:v>
                </c:pt>
                <c:pt idx="1">
                  <c:v>Наша
(1 800 розр.)</c:v>
                </c:pt>
                <c:pt idx="2">
                  <c:v>Наша фінальна
(4 500 розр.)</c:v>
                </c:pt>
                <c:pt idx="3">
                  <c:v>З фізикою
(довідково)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0.765</c:v>
                </c:pt>
                <c:pt idx="1">
                  <c:v>0.914</c:v>
                </c:pt>
                <c:pt idx="2">
                  <c:v>0.924</c:v>
                </c:pt>
                <c:pt idx="3">
                  <c:v>0.944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400" b="1">
                  <a:solidFill>
                    <a:srgbClr val="F1F5F9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200">
                <a:solidFill>
                  <a:srgbClr val="94A3B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6"/>
        </c:scaling>
        <c:delete/>
        <c:axPos val="l"/>
        <c:majorGridlines>
          <c:spPr>
            <a:ln>
              <a:solidFill>
                <a:srgbClr val="26334F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800">
          <a:solidFill>
            <a:srgbClr val="94A3B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64748B"/>
              </a:solidFill>
            </c:spPr>
          </c:dPt>
          <c:dPt>
            <c:idx val="1"/>
            <c:spPr>
              <a:solidFill>
                <a:srgbClr val="64748B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dPt>
            <c:idx val="3"/>
            <c:spPr>
              <a:solidFill>
                <a:srgbClr val="10B981"/>
              </a:solidFill>
            </c:spPr>
          </c:dPt>
          <c:cat>
            <c:strRef>
              <c:f>Sheet1!$A$2:$A$5</c:f>
              <c:strCache>
                <c:ptCount val="4"/>
                <c:pt idx="0">
                  <c:v>XGBoost
фізичні ознаки</c:v>
                </c:pt>
                <c:pt idx="1">
                  <c:v>XGBoost
формули-проксі</c:v>
                </c:pt>
                <c:pt idx="2">
                  <c:v>XGBoost
+ динаміка</c:v>
                </c:pt>
                <c:pt idx="3">
                  <c:v>Наша модель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25.4</c:v>
                </c:pt>
                <c:pt idx="1">
                  <c:v>25.4</c:v>
                </c:pt>
                <c:pt idx="2">
                  <c:v>34.9</c:v>
                </c:pt>
                <c:pt idx="3">
                  <c:v>63.5</c:v>
                </c:pt>
              </c:numCache>
            </c:numRef>
          </c:val>
        </c:ser>
        <c:dLbls>
          <c:numFmt formatCode="0.0&quot; %&quot;" sourceLinked="0"/>
          <c:txPr>
            <a:bodyPr/>
            <a:lstStyle/>
            <a:p>
              <a:pPr>
                <a:defRPr sz="1400" b="1">
                  <a:solidFill>
                    <a:srgbClr val="F1F5F9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200">
                <a:solidFill>
                  <a:srgbClr val="94A3B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5.0"/>
          <c:min val="0.0"/>
        </c:scaling>
        <c:delete/>
        <c:axPos val="l"/>
        <c:majorGridlines>
          <c:spPr>
            <a:ln>
              <a:solidFill>
                <a:srgbClr val="26334F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800">
          <a:solidFill>
            <a:srgbClr val="94A3B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0B981"/>
              </a:solidFill>
            </c:spPr>
          </c:dPt>
          <c:dPt>
            <c:idx val="1"/>
            <c:spPr>
              <a:solidFill>
                <a:srgbClr val="8B5CF6"/>
              </a:solidFill>
            </c:spPr>
          </c:dPt>
          <c:dPt>
            <c:idx val="2"/>
            <c:spPr>
              <a:solidFill>
                <a:srgbClr val="64748B"/>
              </a:solidFill>
            </c:spPr>
          </c:dPt>
          <c:cat>
            <c:strRef>
              <c:f>Sheet1!$A$2:$A$4</c:f>
              <c:strCache>
                <c:ptCount val="3"/>
                <c:pt idx="0">
                  <c:v>Модель
тривоги</c:v>
                </c:pt>
                <c:pt idx="1">
                  <c:v>ImpactNet
як будильник</c:v>
                </c:pt>
                <c:pt idx="2">
                  <c:v>Справжня λ
(оракул)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0.92</c:v>
                </c:pt>
                <c:pt idx="1">
                  <c:v>0.767</c:v>
                </c:pt>
                <c:pt idx="2">
                  <c:v>0.78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400" b="1">
                  <a:solidFill>
                    <a:srgbClr val="F1F5F9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200">
                <a:solidFill>
                  <a:srgbClr val="94A3B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6"/>
        </c:scaling>
        <c:delete/>
        <c:axPos val="l"/>
        <c:majorGridlines>
          <c:spPr>
            <a:ln>
              <a:solidFill>
                <a:srgbClr val="26334F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800">
          <a:solidFill>
            <a:srgbClr val="94A3B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≈30 с. Привітання. Ми розв'язували задачу організаторів: за 100 приладами токамака в реальному часі передбачити зрив плазми. Зробили три речі: модель тривоги, нейромережу, яка пояснює причину, і симулятор, де модель сама змінює параметри, щоб зриву не було.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Зрив — плазма за мілісекунди втрачає утримання, енергія б'є в стінку й котушки. У симуляторі це пуассонівський кубик: що ближче до операційної межі, то вища інтенсивність λ. Після кидка 50–100 мс видно передвісник, потім гасіння. Модель бачить 100 приладів кожні 5 мс, лише минуле. Тривога зараховується, якщо прийшла щонайменше за lead до гасіння, а хибних тривог не більше бюджету. Головна метрика — об'єм: середня якість по всіх запасах і бюджетах.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Бейзлайн організаторів — поріг на частці межі Грінвальда плюс сигнал locked mode. Об'єм 0,765. При 30 мс і 3 % хибних він ловить лише 59 % зривів. Причини: одна фізична величина, немає пам'яті, шум приладів б'є прямо в поріг.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H1: два детектори — пізній упевнений передвісник і рання тривога. H2: формули зі шпаргалки не потрібні. H3: мітка сценарію в метаданих — підказка симулятора, а не фізика плазми. H4 спростована: навіть точна λ — погана сигналізація, бо зрив — кидок кубика; звідси дві моделі. H5: фізичне априорі дає розпізнати причини без розмітки.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Ознаки рахуються онлайн: згладжування на трьох масштабах, тренди, максимуми, детектор передвісника на сідловій петлі й котушках Мірнова, команди актуаторів. Голова A вчиться на «зрив ≤ 0,1 с» — пізно, але впевнено. Голова B — «зрив ≤ 4,5 с» — рання тривога. Беремо максимум, на запланованому спаді струму нуль, далі згладжування. Дерева перекладені в масиви numpy: крок 0,9 мс на ноутбуці.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Офіційний залік toksym на 4 наборах, 747 розрядів, 228 зривів. Бейзлайн 0,765, наша чиста модель 0,914 на 1800 розрядах і 0,924 на 4500. Для довідки модель з фізикою — 0,944, але вона використовує формули шпаргалки. При 30 мс і 5 % хибних ловимо 98 %. Приріст від даних перевірено парним бутстрепом: +0,010, P = 0,97.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≈35 с. Запас і бюджет вибирає команда, журі може поставити будь-які. Таблиця — частка зривів, спійманих вчасно, на тих самих 4 наборах. До 30 мс — 98–100 % за будь-якого бюджету. Довгі запаси при жорсткому бюджеті — природна межа: зрив — кубик. Для уникнення зриву (0,3 с) при 10–15 % хибних ловимо 67–82 %.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Тімейт помітив: мітка сценарію в метаданих — scen_none гарантує, що зриву не буде. Це підказка симулятора, а не плазма. Ми прибрали і її, і таймери програми, і всі формули шпаргалки. Ціна — близько сотої об'єму. Перевірка чесна: ознаки лише з минулого, порівняння на тих самих 747 розрядах парним бутстрепом, правило P &gt; 0,9 зафіксоване наперед, ноутбук і сервер дають однакові цифри.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Фізика симулятора: інтенсивність зриву λ = 1 − добуток (1 − rᵢ³), де rᵢ — сигмоїди відстані до чотирьох меж: Грінвальда за густиною, кінку за q95, радіаційного колапсу і Тройона за βN. Кожну межу можна відсунути актуатором, але дії конфліктують: струм тягне в обидва боки — більший Iₚ віддаляє від Грінвальда, але наближає кінк. Неон накопичується пів секунди, густина реагує за 0,3 с — діяти треба завчасно.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Ми перевірили альтернативи на XGBoost: сирі канали, плюс фізичні агрегати, плюс динаміка — лаги, різниці, ковзні статистики, і варіант із формулами-проксі. На тих самих 200 розрядах інтерфейсу при запасі 0,1 с фізичні проксі не додають нічого: 25 %. Динаміка дає 35 %. Наша модель з пам'яттю на трьох масштабах і детектором передвісника — 63 %. Висновок: головне — історія сигналів, а не формули.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≈55 с. Друга модель відповідає не «коли», а «чому». Рівно 5 вихідних нейронів — Грінвальд, q95, радіація, Тройон, інші. Кожен нейрон — формула ризику симулятора плюс поправка мережі. Тому частки складаються рівно в 100 %, а загальний ризик — та сама λ, що в симуляторі. Всередині згортки бачать 155 мс, GRU дає пам'ять розряду. Мітки — справжній ризик зі стану плазми, але на вхід йдуть лише 100 приладів. Результат: причину вгадано в 49 з 49 зривів, R² загального ризику 0,996, крок 0,6 мс на чистому numpy.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Якщо використати ImpactNet як будильник, об'єм лише 0,77. Але й справжня λ симулятора дає 0,78 — мережа відтворює її майже ідеально. Причина: зрив — кидок кубика, тихі розряди теж підходять до межі. Тому «коли» — модель тривоги, яка бачить передвісник після кидка, а «чому» — ImpactNet. І друге: на справжньому реакторі λ ніхто не знає. Ми навчили ту саму мережу лише з моментів зривів — і вона знову вгадала 49 з 49 причин, але тільки з фізичним априорі. Без нього — 41.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Ми зробили симулятор, де модель під'єднана до розряду. Панель показує ймовірність зриву і живі частки механізмів. Порадник бере головну загрозу і пропонує конкретну дію — наприклад, знизити уставку густини до 0,62 і D₂ удвічі. Автокерування виконує дію, коли p вище порогу, з паузою, бо плазмі треба час відреагувати. Плюс 10 повзунків для ручного керування.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Замкнений контур: ті самі 40 розрядів без керування і з ним. Модель тривоги бачить загрозу, ImpactNet називає механізм, порадник діє. Було 11 зривів, стало 5. Чесно: це 40 розрядів на безшумних каналах — наступний крок — 200 розрядів на тих самих сидах і облік ціни керування: на скільки впали струм і енергія.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Підсумок: модель тривоги без формул і без підказок — 0,924 проти 0,765 і 98 % зривів за 30 мс. ImpactNet пояснює причину — 49 з 49. Симулятор із порадником удвічі зменшує зриви. Далі: перевірка контуру на більшій вибірці і з шумом приладів, ціна керування, довчання на реальних даних. Код і результати — на GitHub. Дякуємо!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ag"/>
          <p:cNvSpPr txBox="1"/>
          <p:nvPr/>
        </p:nvSpPr>
        <p:spPr>
          <a:xfrm>
            <a:off x="548640" y="34747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8B5CF6"/>
                </a:solidFill>
                <a:latin typeface="Arial"/>
              </a:rPr>
              <a:t>ХАКАТОН ФМФ КПІ · 9–11 ЖОВТНЯ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1/15</a:t>
            </a:r>
          </a:p>
        </p:txBody>
      </p:sp>
      <p:sp>
        <p:nvSpPr>
          <p:cNvPr id="4" name="Oval 3"/>
          <p:cNvSpPr/>
          <p:nvPr/>
        </p:nvSpPr>
        <p:spPr>
          <a:xfrm>
            <a:off x="8138160" y="1322222"/>
            <a:ext cx="3566160" cy="2567635"/>
          </a:xfrm>
          <a:prstGeom prst="ellipse">
            <a:avLst/>
          </a:prstGeom>
          <a:noFill/>
          <a:ln w="381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8503919" y="1585569"/>
            <a:ext cx="2834640" cy="2040940"/>
          </a:xfrm>
          <a:prstGeom prst="ellipse">
            <a:avLst/>
          </a:prstGeom>
          <a:noFill/>
          <a:ln w="3048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869680" y="1848916"/>
            <a:ext cx="2103120" cy="1514246"/>
          </a:xfrm>
          <a:prstGeom prst="ellipse">
            <a:avLst/>
          </a:prstGeom>
          <a:noFill/>
          <a:ln w="2286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749807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F1F5F9"/>
                </a:solidFill>
                <a:latin typeface="Arial"/>
              </a:rPr>
              <a:t>Передбачаємо, пояснюємо і запобігаємо зриву плазми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29000"/>
            <a:ext cx="7132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94A3B8"/>
                </a:solidFill>
                <a:latin typeface="Arial"/>
              </a:rPr>
              <a:t>Онлайн-модель тривоги · нейромережа причин ImpactNet · симулятор з автокеруванням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34840"/>
            <a:ext cx="2286000" cy="132588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8" y="4595774"/>
            <a:ext cx="1883664" cy="1004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10B981"/>
                </a:solidFill>
                <a:latin typeface="Arial"/>
              </a:rPr>
              <a:t>0,924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об'єм заліку
(бейзлайн 0,765)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4434840"/>
            <a:ext cx="2286000" cy="132588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264408" y="4595774"/>
            <a:ext cx="1883664" cy="1004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8B5CF6"/>
                </a:solidFill>
                <a:latin typeface="Arial"/>
              </a:rPr>
              <a:t>49 / 49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причин зривів
вгадано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0" y="4434840"/>
            <a:ext cx="2286000" cy="132588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779007" y="4595774"/>
            <a:ext cx="1883664" cy="1004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97316"/>
                </a:solidFill>
                <a:latin typeface="Arial"/>
              </a:rPr>
              <a:t>11 → 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зривів з
автокеруванням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Arial"/>
              </a:rPr>
              <a:t>Дмитрій Почко · Олександр Чорій · Ілля Симоненко · Олена Сергієнко · Софія Щербина · Арина Яковець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ag"/>
          <p:cNvSpPr txBox="1"/>
          <p:nvPr/>
        </p:nvSpPr>
        <p:spPr>
          <a:xfrm>
            <a:off x="548640" y="34747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8B5CF6"/>
                </a:solidFill>
                <a:latin typeface="Arial"/>
              </a:rPr>
              <a:t>ПРОБЛЕМА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F1F5F9"/>
                </a:solidFill>
                <a:latin typeface="Arial"/>
              </a:rPr>
              <a:t>Зрив — найдорожча аварія токамака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2/15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108960"/>
            <a:ext cx="6766560" cy="6400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40080" y="2953512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347472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F1F5F9"/>
                </a:solidFill>
                <a:latin typeface="Arial"/>
              </a:rPr>
              <a:t>плазма наближається
до межі: λ росте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295351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520440" y="3474720"/>
            <a:ext cx="1554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F1F5F9"/>
                </a:solidFill>
                <a:latin typeface="Arial"/>
              </a:rPr>
              <a:t>кидок
кубика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95351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937760" y="3474720"/>
            <a:ext cx="1645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F1F5F9"/>
                </a:solidFill>
                <a:latin typeface="Arial"/>
              </a:rPr>
              <a:t>передвісник
50–100 мс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953512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6520" y="3474720"/>
            <a:ext cx="1051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F1F5F9"/>
                </a:solidFill>
                <a:latin typeface="Arial"/>
              </a:rPr>
              <a:t>гасіння
1–2 мс</a:t>
            </a:r>
          </a:p>
        </p:txBody>
      </p:sp>
      <p:sp>
        <p:nvSpPr>
          <p:cNvPr id="14" name="Oval 13"/>
          <p:cNvSpPr/>
          <p:nvPr/>
        </p:nvSpPr>
        <p:spPr>
          <a:xfrm>
            <a:off x="4160520" y="2103120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160520" y="210312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0B1120"/>
                </a:solidFill>
                <a:latin typeface="Arial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155448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0B981"/>
                </a:solidFill>
                <a:latin typeface="Arial"/>
              </a:rPr>
              <a:t>тривога моделі — щонайменше за lead до гасіння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600200"/>
            <a:ext cx="3657600" cy="932688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183879" y="1847088"/>
            <a:ext cx="438912" cy="43891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183879" y="1847088"/>
            <a:ext cx="43891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B1120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1709928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1F5F9"/>
                </a:solidFill>
                <a:latin typeface="Arial"/>
              </a:rPr>
              <a:t>100 приладів, крок 5 мс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магнітні, інтерферометр, ECE, болометри, SXR, газ, нагрів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2697480"/>
            <a:ext cx="3657600" cy="932688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8183879" y="2944368"/>
            <a:ext cx="438912" cy="438912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183879" y="2944368"/>
            <a:ext cx="43891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B1120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2807208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1F5F9"/>
                </a:solidFill>
                <a:latin typeface="Arial"/>
              </a:rPr>
              <a:t>Лише минуле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модель працює онлайн, у реальному часі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3794760"/>
            <a:ext cx="3657600" cy="932688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8183879" y="4041648"/>
            <a:ext cx="438912" cy="43891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183879" y="4041648"/>
            <a:ext cx="43891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B1120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3904488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1F5F9"/>
                </a:solidFill>
                <a:latin typeface="Arial"/>
              </a:rPr>
              <a:t>Тривога ≥ lead до гасіння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хибних тривог — не більше бюджету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01000" y="4892040"/>
            <a:ext cx="3657600" cy="932688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8183879" y="5138927"/>
            <a:ext cx="438912" cy="438912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183879" y="5138927"/>
            <a:ext cx="43891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B1120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5001768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1F5F9"/>
                </a:solidFill>
                <a:latin typeface="Arial"/>
              </a:rPr>
              <a:t>Метрика — об'єм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середня якість по всіх запасах і бюджетах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846320"/>
            <a:ext cx="6766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1F5F9"/>
                </a:solidFill>
                <a:latin typeface="Arial"/>
              </a:rPr>
              <a:t>Задача: побачити зрив якомога раніше, але не «лякати» тихі розряди хибними тривогами.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ag"/>
          <p:cNvSpPr txBox="1"/>
          <p:nvPr/>
        </p:nvSpPr>
        <p:spPr>
          <a:xfrm>
            <a:off x="548640" y="34747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8B5CF6"/>
                </a:solidFill>
                <a:latin typeface="Arial"/>
              </a:rPr>
              <a:t>АНАЛІЗ БЕЙЗЛАЙНУ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F1F5F9"/>
                </a:solidFill>
                <a:latin typeface="Arial"/>
              </a:rPr>
              <a:t>Бейзлайн ловить пізно і спирається на одну величину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3/15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4206240" cy="420624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901952"/>
            <a:ext cx="3566159" cy="3694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200" b="1" i="0">
                <a:solidFill>
                  <a:srgbClr val="F97316"/>
                </a:solidFill>
                <a:latin typeface="Arial"/>
              </a:rPr>
              <a:t>0,765</a:t>
            </a:r>
          </a:p>
          <a:p>
            <a:pPr algn="l">
              <a:spcAft>
                <a:spcPts val="1800"/>
              </a:spcAft>
            </a:pPr>
            <a:r>
              <a:rPr sz="1500" b="0" i="0">
                <a:solidFill>
                  <a:srgbClr val="94A3B8"/>
                </a:solidFill>
                <a:latin typeface="Arial"/>
              </a:rPr>
              <a:t>об'єм заліку бейзлайну</a:t>
            </a:r>
          </a:p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F97316"/>
                </a:solidFill>
                <a:latin typeface="Arial"/>
              </a:rPr>
              <a:t>59 %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4A3B8"/>
                </a:solidFill>
                <a:latin typeface="Arial"/>
              </a:rPr>
              <a:t>зривів спіймано за 30 мс
при 3 % хибних тривог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74920" y="1645920"/>
            <a:ext cx="6583680" cy="1261872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5303520" y="2029968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03520" y="202996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0B1120"/>
                </a:solidFill>
                <a:latin typeface="Arial"/>
              </a:rPr>
              <a:t>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1810512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F1F5F9"/>
                </a:solidFill>
                <a:latin typeface="Arial"/>
              </a:rPr>
              <a:t>Що робить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Arial"/>
              </a:rPr>
              <a:t>поріг на f_GW (частка межі густини) + сигнал locked mode із сідлової петлі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74920" y="3063240"/>
            <a:ext cx="6583680" cy="1261872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5303520" y="3447288"/>
            <a:ext cx="502920" cy="5029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03520" y="344728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0B1120"/>
                </a:solidFill>
                <a:latin typeface="Arial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3227832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F1F5F9"/>
                </a:solidFill>
                <a:latin typeface="Arial"/>
              </a:rPr>
              <a:t>Чому слабко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Arial"/>
              </a:rPr>
              <a:t>одна величина, без пам'яті про розряд; шум і дрейф приладів напряму смикають поріг; зриви від q95 і радіації майже не бачить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4480560"/>
            <a:ext cx="6583680" cy="1261872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5303520" y="4864608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303520" y="486460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0B1120"/>
                </a:solidFill>
                <a:latin typeface="Arial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4645152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F1F5F9"/>
                </a:solidFill>
                <a:latin typeface="Arial"/>
              </a:rPr>
              <a:t>Наша ціль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Arial"/>
              </a:rPr>
              <a:t>ловити раніше й більше, не піднімаючи хибні тривоги — і пояснити, чому плазма зривається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ag"/>
          <p:cNvSpPr txBox="1"/>
          <p:nvPr/>
        </p:nvSpPr>
        <p:spPr>
          <a:xfrm>
            <a:off x="548640" y="34747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8B5CF6"/>
                </a:solidFill>
                <a:latin typeface="Arial"/>
              </a:rPr>
              <a:t>ГІПОТЕЗИ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F1F5F9"/>
                </a:solidFill>
                <a:latin typeface="Arial"/>
              </a:rPr>
              <a:t>Гіпотези: чотири «так», одне важливе «ні»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4/15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49808" y="1847088"/>
            <a:ext cx="548640" cy="54864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49808" y="184708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0B1120"/>
                </a:solidFill>
                <a:latin typeface="Arial"/>
              </a:rPr>
              <a:t>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19202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880360" y="1920240"/>
            <a:ext cx="10515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B1120"/>
                </a:solidFill>
                <a:latin typeface="Arial"/>
              </a:rPr>
              <a:t>так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542032"/>
            <a:ext cx="32004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1F5F9"/>
                </a:solidFill>
                <a:latin typeface="Arial"/>
              </a:rPr>
              <a:t>Два детектори краще за один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пізній упевнений передвісник + рання тривога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64592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517136" y="1847088"/>
            <a:ext cx="548640" cy="54864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17136" y="184708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0B1120"/>
                </a:solidFill>
                <a:latin typeface="Arial"/>
              </a:rPr>
              <a:t>H2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47688" y="19202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647688" y="1920240"/>
            <a:ext cx="10515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B1120"/>
                </a:solidFill>
                <a:latin typeface="Arial"/>
              </a:rPr>
              <a:t>так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2542032"/>
            <a:ext cx="32004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1F5F9"/>
                </a:solidFill>
                <a:latin typeface="Arial"/>
              </a:rPr>
              <a:t>Формули шпаргалки не потрібні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сирих згладжених каналів досить: 0,924 без них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4592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284464" y="1847088"/>
            <a:ext cx="548640" cy="54864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84464" y="184708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0B1120"/>
                </a:solidFill>
                <a:latin typeface="Arial"/>
              </a:rPr>
              <a:t>H3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15016" y="19202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415016" y="1920240"/>
            <a:ext cx="10515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B1120"/>
                </a:solidFill>
                <a:latin typeface="Arial"/>
              </a:rPr>
              <a:t>так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542032"/>
            <a:ext cx="32004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1F5F9"/>
                </a:solidFill>
                <a:latin typeface="Arial"/>
              </a:rPr>
              <a:t>Мітка сценарію — підказка, не фізика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прибрали — об'єм упав лише на ~0,01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2304" y="388620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2633472" y="4087368"/>
            <a:ext cx="548640" cy="54864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633472" y="4087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0B1120"/>
                </a:solidFill>
                <a:latin typeface="Arial"/>
              </a:rPr>
              <a:t>H4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64024" y="416052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764024" y="4160520"/>
            <a:ext cx="10515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B1120"/>
                </a:solidFill>
                <a:latin typeface="Arial"/>
              </a:rPr>
              <a:t>ні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33472" y="4782312"/>
            <a:ext cx="32004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1F5F9"/>
                </a:solidFill>
                <a:latin typeface="Arial"/>
              </a:rPr>
              <a:t>Знаючи точну λ, можна бити тривогу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ні: навіть справжня λ дає 0,78 — зрив є кубик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9631" y="388620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6400799" y="4087368"/>
            <a:ext cx="548640" cy="54864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00799" y="4087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0B1120"/>
                </a:solidFill>
                <a:latin typeface="Arial"/>
              </a:rPr>
              <a:t>H5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31351" y="416052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531351" y="4160520"/>
            <a:ext cx="10515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B1120"/>
                </a:solidFill>
                <a:latin typeface="Arial"/>
              </a:rPr>
              <a:t>так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799" y="4782312"/>
            <a:ext cx="32004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1F5F9"/>
                </a:solidFill>
                <a:latin typeface="Arial"/>
              </a:rPr>
              <a:t>Фізичне априорі робить причини видимими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без розмітки: 49/49 з априорі, 41/49 без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ag"/>
          <p:cNvSpPr txBox="1"/>
          <p:nvPr/>
        </p:nvSpPr>
        <p:spPr>
          <a:xfrm>
            <a:off x="548640" y="34747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B981"/>
                </a:solidFill>
                <a:latin typeface="Arial"/>
              </a:rPr>
              <a:t>РІШЕННЯ 1 · МОДЕЛЬ ТРИВОГИ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F1F5F9"/>
                </a:solidFill>
                <a:latin typeface="Arial"/>
              </a:rPr>
              <a:t>Дві голови бустингу: передвісник і рання тривога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5/15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1965960" cy="201168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58368" y="228600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2D3EE"/>
                </a:solidFill>
                <a:latin typeface="Arial"/>
              </a:rPr>
              <a:t>100 приладів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кожні 5 мс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35808" y="2194560"/>
            <a:ext cx="1965960" cy="201168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145536" y="228600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8B5CF6"/>
                </a:solidFill>
                <a:latin typeface="Arial"/>
              </a:rPr>
              <a:t>Онлайн-ознаки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EMA 50 мс / 250 мс / 1 с,
тренди, передвісник,
актуатори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60320" y="3063240"/>
            <a:ext cx="411480" cy="292608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ight Arrow 9"/>
          <p:cNvSpPr/>
          <p:nvPr/>
        </p:nvSpPr>
        <p:spPr>
          <a:xfrm>
            <a:off x="5047488" y="3063240"/>
            <a:ext cx="365760" cy="292608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5486400" y="1691640"/>
            <a:ext cx="2286000" cy="141732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577840" y="176479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10B981"/>
                </a:solidFill>
                <a:latin typeface="Arial"/>
              </a:rPr>
              <a:t>Голова A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«зрив ≤ 0,1 с»
передвісник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0" y="3520440"/>
            <a:ext cx="2286000" cy="141732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577840" y="359359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10B981"/>
                </a:solidFill>
                <a:latin typeface="Arial"/>
              </a:rPr>
              <a:t>Голова B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«зрив ≤ 4,5 с»
рання тривога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9560" y="3063240"/>
            <a:ext cx="411480" cy="292608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412480" y="2194560"/>
            <a:ext cx="3246120" cy="2011680"/>
          </a:xfrm>
          <a:prstGeom prst="roundRect">
            <a:avLst>
              <a:gd name="adj" fmla="val 8000"/>
            </a:avLst>
          </a:prstGeom>
          <a:solidFill>
            <a:srgbClr val="1F2B4A"/>
          </a:solidFill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549640" y="2286000"/>
            <a:ext cx="2971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F97316"/>
                </a:solidFill>
                <a:latin typeface="Arial"/>
              </a:rPr>
              <a:t>p = max(A, 0,3·B)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0 на запланованому спаді струму
→ згладжування → бігучий максимум
→ тривога, коли p &gt; поріг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74920"/>
            <a:ext cx="1252728" cy="384048"/>
          </a:xfrm>
          <a:prstGeom prst="roundRect">
            <a:avLst>
              <a:gd name="adj" fmla="val 50000"/>
            </a:avLst>
          </a:prstGeom>
          <a:solidFill>
            <a:srgbClr val="1F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2527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22D3EE"/>
                </a:solidFill>
                <a:latin typeface="Arial"/>
              </a:rPr>
              <a:t>лише numpy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65960" y="5074920"/>
            <a:ext cx="1348740" cy="384048"/>
          </a:xfrm>
          <a:prstGeom prst="roundRect">
            <a:avLst>
              <a:gd name="adj" fmla="val 50000"/>
            </a:avLst>
          </a:prstGeom>
          <a:solidFill>
            <a:srgbClr val="1F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965960" y="5074920"/>
            <a:ext cx="13487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0B981"/>
                </a:solidFill>
                <a:latin typeface="Arial"/>
              </a:rPr>
              <a:t>крок 0,9 мс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79291" y="5074920"/>
            <a:ext cx="1636776" cy="384048"/>
          </a:xfrm>
          <a:prstGeom prst="roundRect">
            <a:avLst>
              <a:gd name="adj" fmla="val 50000"/>
            </a:avLst>
          </a:prstGeom>
          <a:solidFill>
            <a:srgbClr val="1F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479291" y="5074920"/>
            <a:ext cx="16367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8B5CF6"/>
                </a:solidFill>
                <a:latin typeface="Arial"/>
              </a:rPr>
              <a:t>4 500 розрядів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80659" y="5074920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1F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280659" y="5074920"/>
            <a:ext cx="22128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97316"/>
                </a:solidFill>
                <a:latin typeface="Arial"/>
              </a:rPr>
              <a:t>без формул шпаргалки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58100" y="5074920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1F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658100" y="5074920"/>
            <a:ext cx="20208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97316"/>
                </a:solidFill>
                <a:latin typeface="Arial"/>
              </a:rPr>
              <a:t>без мітки сценарію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Arial"/>
              </a:rPr>
              <a:t>Поріг підбирає сам залік під заданий бюджет хибних тривог — модель не треба перенавчати під налаштування журі.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ag"/>
          <p:cNvSpPr txBox="1"/>
          <p:nvPr/>
        </p:nvSpPr>
        <p:spPr>
          <a:xfrm>
            <a:off x="548640" y="34747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B981"/>
                </a:solidFill>
                <a:latin typeface="Arial"/>
              </a:rPr>
              <a:t>РЕЗУЛЬТАТ ПРОТИ БЕЙЗЛАЙНУ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F1F5F9"/>
                </a:solidFill>
                <a:latin typeface="Arial"/>
              </a:rPr>
              <a:t>0,765 → 0,924 без формул і 98 % зривів за 30 мс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6/15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600200"/>
          <a:ext cx="694944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863840" y="1600200"/>
            <a:ext cx="3794760" cy="132588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065008" y="1761134"/>
            <a:ext cx="3392424" cy="1004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10B981"/>
                </a:solidFill>
                <a:latin typeface="Arial"/>
              </a:rPr>
              <a:t>98,2 %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зривів за 30 мс
при 5 % хибних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3108960"/>
            <a:ext cx="3794760" cy="132588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65008" y="3269894"/>
            <a:ext cx="3392424" cy="1004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8B5CF6"/>
                </a:solidFill>
                <a:latin typeface="Arial"/>
              </a:rPr>
              <a:t>+0,159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об'єму до бейзлайну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4617720"/>
            <a:ext cx="3794760" cy="132588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065008" y="4778654"/>
            <a:ext cx="3392424" cy="1004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22D3EE"/>
                </a:solidFill>
                <a:latin typeface="Arial"/>
              </a:rPr>
              <a:t>0,9 мс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крок на ноутбуці
(бюджет 5 мс)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Офіційний toksym score: сиди 1, 1 shift, 20261001, 42 · 747 розрядів · 228 зривів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ag"/>
          <p:cNvSpPr txBox="1"/>
          <p:nvPr/>
        </p:nvSpPr>
        <p:spPr>
          <a:xfrm>
            <a:off x="548640" y="34747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B981"/>
                </a:solidFill>
                <a:latin typeface="Arial"/>
              </a:rPr>
              <a:t>СТІЙКІСТЬ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F1F5F9"/>
                </a:solidFill>
                <a:latin typeface="Arial"/>
              </a:rPr>
              <a:t>Стійка до будь-яких налаштувань журі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7/15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691640"/>
          <a:ext cx="7680960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94560"/>
                <a:gridCol w="1371600"/>
                <a:gridCol w="1371600"/>
                <a:gridCol w="1371600"/>
                <a:gridCol w="1371600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94A3B8"/>
                          </a:solidFill>
                          <a:latin typeface="Arial"/>
                        </a:rPr>
                        <a:t>запас \ хибні тривоги</a:t>
                      </a:r>
                    </a:p>
                  </a:txBody>
                  <a:tcPr marL="91440" marR="91440" marT="36576" marB="36576" anchor="ctr">
                    <a:solidFill>
                      <a:srgbClr val="1F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94A3B8"/>
                          </a:solidFill>
                          <a:latin typeface="Arial"/>
                        </a:rPr>
                        <a:t>3 %</a:t>
                      </a:r>
                    </a:p>
                  </a:txBody>
                  <a:tcPr marL="91440" marR="91440" marT="36576" marB="36576" anchor="ctr">
                    <a:solidFill>
                      <a:srgbClr val="1F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94A3B8"/>
                          </a:solidFill>
                          <a:latin typeface="Arial"/>
                        </a:rPr>
                        <a:t>5 %</a:t>
                      </a:r>
                    </a:p>
                  </a:txBody>
                  <a:tcPr marL="91440" marR="91440" marT="36576" marB="36576" anchor="ctr">
                    <a:solidFill>
                      <a:srgbClr val="1F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94A3B8"/>
                          </a:solidFill>
                          <a:latin typeface="Arial"/>
                        </a:rPr>
                        <a:t>10 %</a:t>
                      </a:r>
                    </a:p>
                  </a:txBody>
                  <a:tcPr marL="91440" marR="91440" marT="36576" marB="36576" anchor="ctr">
                    <a:solidFill>
                      <a:srgbClr val="1F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94A3B8"/>
                          </a:solidFill>
                          <a:latin typeface="Arial"/>
                        </a:rPr>
                        <a:t>15 %</a:t>
                      </a:r>
                    </a:p>
                  </a:txBody>
                  <a:tcPr marL="91440" marR="91440" marT="36576" marB="36576" anchor="ctr">
                    <a:solidFill>
                      <a:srgbClr val="1F2B4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1F5F9"/>
                          </a:solidFill>
                          <a:latin typeface="Arial"/>
                        </a:rPr>
                        <a:t>10 мс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F1F5F9"/>
                          </a:solidFill>
                          <a:latin typeface="Arial"/>
                        </a:rPr>
                        <a:t>99,1 %</a:t>
                      </a:r>
                    </a:p>
                  </a:txBody>
                  <a:tcPr marL="91440" marR="91440" marT="36576" marB="36576" anchor="ctr">
                    <a:solidFill>
                      <a:srgbClr val="065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F1F5F9"/>
                          </a:solidFill>
                          <a:latin typeface="Arial"/>
                        </a:rPr>
                        <a:t>99,1 %</a:t>
                      </a:r>
                    </a:p>
                  </a:txBody>
                  <a:tcPr marL="91440" marR="91440" marT="36576" marB="36576" anchor="ctr">
                    <a:solidFill>
                      <a:srgbClr val="065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F1F5F9"/>
                          </a:solidFill>
                          <a:latin typeface="Arial"/>
                        </a:rPr>
                        <a:t>99,6 %</a:t>
                      </a:r>
                    </a:p>
                  </a:txBody>
                  <a:tcPr marL="91440" marR="91440" marT="36576" marB="36576" anchor="ctr">
                    <a:solidFill>
                      <a:srgbClr val="065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F1F5F9"/>
                          </a:solidFill>
                          <a:latin typeface="Arial"/>
                        </a:rPr>
                        <a:t>99,6 %</a:t>
                      </a:r>
                    </a:p>
                  </a:txBody>
                  <a:tcPr marL="91440" marR="91440" marT="36576" marB="36576" anchor="ctr">
                    <a:solidFill>
                      <a:srgbClr val="065F4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1F5F9"/>
                          </a:solidFill>
                          <a:latin typeface="Arial"/>
                        </a:rPr>
                        <a:t>30 мс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F1F5F9"/>
                          </a:solidFill>
                          <a:latin typeface="Arial"/>
                        </a:rPr>
                        <a:t>97,8 %</a:t>
                      </a:r>
                    </a:p>
                  </a:txBody>
                  <a:tcPr marL="91440" marR="91440" marT="36576" marB="36576" anchor="ctr">
                    <a:solidFill>
                      <a:srgbClr val="065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F1F5F9"/>
                          </a:solidFill>
                          <a:latin typeface="Arial"/>
                        </a:rPr>
                        <a:t>98,2 %</a:t>
                      </a:r>
                    </a:p>
                  </a:txBody>
                  <a:tcPr marL="91440" marR="91440" marT="36576" marB="36576" anchor="ctr">
                    <a:solidFill>
                      <a:srgbClr val="065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F1F5F9"/>
                          </a:solidFill>
                          <a:latin typeface="Arial"/>
                        </a:rPr>
                        <a:t>99,6 %</a:t>
                      </a:r>
                    </a:p>
                  </a:txBody>
                  <a:tcPr marL="91440" marR="91440" marT="36576" marB="36576" anchor="ctr">
                    <a:solidFill>
                      <a:srgbClr val="065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F1F5F9"/>
                          </a:solidFill>
                          <a:latin typeface="Arial"/>
                        </a:rPr>
                        <a:t>99,6 %</a:t>
                      </a:r>
                    </a:p>
                  </a:txBody>
                  <a:tcPr marL="91440" marR="91440" marT="36576" marB="36576" anchor="ctr">
                    <a:solidFill>
                      <a:srgbClr val="065F4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1F5F9"/>
                          </a:solidFill>
                          <a:latin typeface="Arial"/>
                        </a:rPr>
                        <a:t>0,1 с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F1F5F9"/>
                          </a:solidFill>
                          <a:latin typeface="Arial"/>
                        </a:rPr>
                        <a:t>39,9 %</a:t>
                      </a:r>
                    </a:p>
                  </a:txBody>
                  <a:tcPr marL="91440" marR="91440" marT="36576" marB="36576" anchor="ctr">
                    <a:solidFill>
                      <a:srgbClr val="713F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F1F5F9"/>
                          </a:solidFill>
                          <a:latin typeface="Arial"/>
                        </a:rPr>
                        <a:t>50,9 %</a:t>
                      </a:r>
                    </a:p>
                  </a:txBody>
                  <a:tcPr marL="91440" marR="91440" marT="36576" marB="36576" anchor="ctr">
                    <a:solidFill>
                      <a:srgbClr val="3F62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F1F5F9"/>
                          </a:solidFill>
                          <a:latin typeface="Arial"/>
                        </a:rPr>
                        <a:t>71,9 %</a:t>
                      </a:r>
                    </a:p>
                  </a:txBody>
                  <a:tcPr marL="91440" marR="91440" marT="36576" marB="36576" anchor="ctr">
                    <a:solidFill>
                      <a:srgbClr val="1580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F1F5F9"/>
                          </a:solidFill>
                          <a:latin typeface="Arial"/>
                        </a:rPr>
                        <a:t>83,3 %</a:t>
                      </a:r>
                    </a:p>
                  </a:txBody>
                  <a:tcPr marL="91440" marR="91440" marT="36576" marB="36576" anchor="ctr">
                    <a:solidFill>
                      <a:srgbClr val="04785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1F5F9"/>
                          </a:solidFill>
                          <a:latin typeface="Arial"/>
                        </a:rPr>
                        <a:t>0,3 с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F1F5F9"/>
                          </a:solidFill>
                          <a:latin typeface="Arial"/>
                        </a:rPr>
                        <a:t>36,0 %</a:t>
                      </a:r>
                    </a:p>
                  </a:txBody>
                  <a:tcPr marL="91440" marR="91440" marT="36576" marB="36576" anchor="ctr">
                    <a:solidFill>
                      <a:srgbClr val="713F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F1F5F9"/>
                          </a:solidFill>
                          <a:latin typeface="Arial"/>
                        </a:rPr>
                        <a:t>47,8 %</a:t>
                      </a:r>
                    </a:p>
                  </a:txBody>
                  <a:tcPr marL="91440" marR="91440" marT="36576" marB="36576" anchor="ctr">
                    <a:solidFill>
                      <a:srgbClr val="713F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F1F5F9"/>
                          </a:solidFill>
                          <a:latin typeface="Arial"/>
                        </a:rPr>
                        <a:t>66,7 %</a:t>
                      </a:r>
                    </a:p>
                  </a:txBody>
                  <a:tcPr marL="91440" marR="91440" marT="36576" marB="36576" anchor="ctr">
                    <a:solidFill>
                      <a:srgbClr val="1580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F1F5F9"/>
                          </a:solidFill>
                          <a:latin typeface="Arial"/>
                        </a:rPr>
                        <a:t>81,6 %</a:t>
                      </a:r>
                    </a:p>
                  </a:txBody>
                  <a:tcPr marL="91440" marR="91440" marT="36576" marB="36576" anchor="ctr">
                    <a:solidFill>
                      <a:srgbClr val="04785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1F5F9"/>
                          </a:solidFill>
                          <a:latin typeface="Arial"/>
                        </a:rPr>
                        <a:t>1 с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F1F5F9"/>
                          </a:solidFill>
                          <a:latin typeface="Arial"/>
                        </a:rPr>
                        <a:t>22,4 %</a:t>
                      </a:r>
                    </a:p>
                  </a:txBody>
                  <a:tcPr marL="91440" marR="91440" marT="36576" marB="36576" anchor="ctr">
                    <a:solidFill>
                      <a:srgbClr val="7C2D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F1F5F9"/>
                          </a:solidFill>
                          <a:latin typeface="Arial"/>
                        </a:rPr>
                        <a:t>29,8 %</a:t>
                      </a:r>
                    </a:p>
                  </a:txBody>
                  <a:tcPr marL="91440" marR="91440" marT="36576" marB="36576" anchor="ctr">
                    <a:solidFill>
                      <a:srgbClr val="7C2D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F1F5F9"/>
                          </a:solidFill>
                          <a:latin typeface="Arial"/>
                        </a:rPr>
                        <a:t>47,4 %</a:t>
                      </a:r>
                    </a:p>
                  </a:txBody>
                  <a:tcPr marL="91440" marR="91440" marT="36576" marB="36576" anchor="ctr">
                    <a:solidFill>
                      <a:srgbClr val="713F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F1F5F9"/>
                          </a:solidFill>
                          <a:latin typeface="Arial"/>
                        </a:rPr>
                        <a:t>61,0 %</a:t>
                      </a:r>
                    </a:p>
                  </a:txBody>
                  <a:tcPr marL="91440" marR="91440" marT="36576" marB="36576" anchor="ctr">
                    <a:solidFill>
                      <a:srgbClr val="3F6212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915400" y="1691640"/>
            <a:ext cx="2743200" cy="150876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16568" y="1852574"/>
            <a:ext cx="2340864" cy="1186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0B981"/>
                </a:solidFill>
                <a:latin typeface="Arial"/>
              </a:rPr>
              <a:t>Пом'якшення зриву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Arial"/>
              </a:rPr>
              <a:t>запас 10–30 мс, 5 % хибних:
98–99 % вчасно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15400" y="3429000"/>
            <a:ext cx="2743200" cy="150876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16568" y="3589934"/>
            <a:ext cx="2340864" cy="1186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59E0B"/>
                </a:solidFill>
                <a:latin typeface="Arial"/>
              </a:rPr>
              <a:t>Уникнення зриву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Arial"/>
              </a:rPr>
              <a:t>запас 0,3 с, 10–15 % хибних:
67–82 % вчасно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06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Частка зривів, спійманих вчасно · 4 офіційні набори · перерахунок звітів toksym rescore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ag"/>
          <p:cNvSpPr txBox="1"/>
          <p:nvPr/>
        </p:nvSpPr>
        <p:spPr>
          <a:xfrm>
            <a:off x="548640" y="34747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B981"/>
                </a:solidFill>
                <a:latin typeface="Arial"/>
              </a:rPr>
              <a:t>ЧЕСНА МОДЕЛЬ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F1F5F9"/>
                </a:solidFill>
                <a:latin typeface="Arial"/>
              </a:rPr>
              <a:t>Прибрали всі підказки — якість майже не впала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8/15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7040880" cy="285292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286000"/>
                <a:gridCol w="1737360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94A3B8"/>
                          </a:solidFill>
                          <a:latin typeface="Arial"/>
                        </a:rPr>
                        <a:t>що прибрали</a:t>
                      </a:r>
                    </a:p>
                  </a:txBody>
                  <a:tcPr marL="91440" marR="91440" marT="36576" marB="36576" anchor="ctr">
                    <a:solidFill>
                      <a:srgbClr val="1F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94A3B8"/>
                          </a:solidFill>
                          <a:latin typeface="Arial"/>
                        </a:rPr>
                        <a:t>чому</a:t>
                      </a:r>
                    </a:p>
                  </a:txBody>
                  <a:tcPr marL="91440" marR="91440" marT="36576" marB="36576" anchor="ctr">
                    <a:solidFill>
                      <a:srgbClr val="1F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94A3B8"/>
                          </a:solidFill>
                          <a:latin typeface="Arial"/>
                        </a:rPr>
                        <a:t>ціна</a:t>
                      </a:r>
                    </a:p>
                  </a:txBody>
                  <a:tcPr marL="91440" marR="91440" marT="36576" marB="36576" anchor="ctr">
                    <a:solidFill>
                      <a:srgbClr val="1F2B4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1F5F9"/>
                          </a:solidFill>
                          <a:latin typeface="Arial"/>
                        </a:rPr>
                        <a:t>Формули шпаргалки (f_GW, q95, βN, P_rad/P_in, λ)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правило задачі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F1F5F9"/>
                          </a:solidFill>
                          <a:latin typeface="Arial"/>
                        </a:rPr>
                        <a:t>0,944 → 0,924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1F5F9"/>
                          </a:solidFill>
                          <a:latin typeface="Arial"/>
                        </a:rPr>
                        <a:t>Мітка сценарію з meta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scen_none ⇒ зриву немає: підказка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F1F5F9"/>
                          </a:solidFill>
                          <a:latin typeface="Arial"/>
                        </a:rPr>
                        <a:t>≈ −0,01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1F5F9"/>
                          </a:solidFill>
                          <a:latin typeface="Arial"/>
                        </a:rPr>
                        <a:t>Таймери від подій програми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F1F5F9"/>
                          </a:solidFill>
                          <a:latin typeface="Arial"/>
                        </a:rPr>
                        <a:t>розклад симулятора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F1F5F9"/>
                          </a:solidFill>
                          <a:latin typeface="Arial"/>
                        </a:rPr>
                        <a:t>≈ 0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001000" y="1691640"/>
            <a:ext cx="3657600" cy="118872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83879" y="2039112"/>
            <a:ext cx="475488" cy="47548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183879" y="203911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0B1120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1856232"/>
            <a:ext cx="27432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1F5F9"/>
                </a:solidFill>
                <a:latin typeface="Arial"/>
              </a:rPr>
              <a:t>Лише минуле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той самий клас ознак у навчанні і в заліку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063240"/>
            <a:ext cx="3657600" cy="118872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183879" y="3410712"/>
            <a:ext cx="475488" cy="475488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183879" y="341071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0B1120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3227832"/>
            <a:ext cx="27432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1F5F9"/>
                </a:solidFill>
                <a:latin typeface="Arial"/>
              </a:rPr>
              <a:t>Парний бутстреп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ті самі 747 розрядів; правило P &gt; 0,9 наперед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4434840"/>
            <a:ext cx="3657600" cy="118872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83879" y="4782312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183879" y="478231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0B1120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4599431"/>
            <a:ext cx="27432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1F5F9"/>
                </a:solidFill>
                <a:latin typeface="Arial"/>
              </a:rPr>
              <a:t>Детермінованість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ноутбук і сервер: однакові результати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892040"/>
            <a:ext cx="7040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1F5F9"/>
                </a:solidFill>
                <a:latin typeface="Arial"/>
              </a:rPr>
              <a:t>Модель вчить плазму, а не розклад симулятора: якість тримається і без підказок.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ag"/>
          <p:cNvSpPr txBox="1"/>
          <p:nvPr/>
        </p:nvSpPr>
        <p:spPr>
          <a:xfrm>
            <a:off x="548640" y="34747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59E0B"/>
                </a:solidFill>
                <a:latin typeface="Arial"/>
              </a:rPr>
              <a:t>ФІЗИКА ЗРИВУ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F1F5F9"/>
                </a:solidFill>
                <a:latin typeface="Arial"/>
              </a:rPr>
              <a:t>Зрив — кубик від чотирьох операційних меж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9/15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11109960" cy="73152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52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59E0B"/>
                </a:solidFill>
                <a:latin typeface="Arial"/>
              </a:rPr>
              <a:t>λ = 1 − Π(1 − rᵢ³)·(1 − r_lm),   </a:t>
            </a:r>
            <a:r>
              <a:rPr sz="1500" b="0" i="0">
                <a:solidFill>
                  <a:srgbClr val="94A3B8"/>
                </a:solidFill>
                <a:latin typeface="Arial"/>
              </a:rPr>
              <a:t>rᵢ = σ((xᵢ − cᵢ)/wᵢ)  —  м'який поріг: далеко від межі ≈ 0, на межі 0,5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560320"/>
          <a:ext cx="11109960" cy="28346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45920"/>
                <a:gridCol w="2011680"/>
                <a:gridCol w="1463040"/>
                <a:gridCol w="3291840"/>
                <a:gridCol w="269748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94A3B8"/>
                          </a:solidFill>
                          <a:latin typeface="Arial"/>
                        </a:rPr>
                        <a:t>механізм</a:t>
                      </a:r>
                    </a:p>
                  </a:txBody>
                  <a:tcPr marL="91440" marR="91440" marT="36576" marB="36576" anchor="ctr">
                    <a:solidFill>
                      <a:srgbClr val="1F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94A3B8"/>
                          </a:solidFill>
                          <a:latin typeface="Arial"/>
                        </a:rPr>
                        <a:t>драйвер</a:t>
                      </a:r>
                    </a:p>
                  </a:txBody>
                  <a:tcPr marL="91440" marR="91440" marT="36576" marB="36576" anchor="ctr">
                    <a:solidFill>
                      <a:srgbClr val="1F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94A3B8"/>
                          </a:solidFill>
                          <a:latin typeface="Arial"/>
                        </a:rPr>
                        <a:t>межа</a:t>
                      </a:r>
                    </a:p>
                  </a:txBody>
                  <a:tcPr marL="91440" marR="91440" marT="36576" marB="36576" anchor="ctr">
                    <a:solidFill>
                      <a:srgbClr val="1F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94A3B8"/>
                          </a:solidFill>
                          <a:latin typeface="Arial"/>
                        </a:rPr>
                        <a:t>що зменшує ризик</a:t>
                      </a:r>
                    </a:p>
                  </a:txBody>
                  <a:tcPr marL="91440" marR="91440" marT="36576" marB="36576" anchor="ctr">
                    <a:solidFill>
                      <a:srgbClr val="1F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94A3B8"/>
                          </a:solidFill>
                          <a:latin typeface="Arial"/>
                        </a:rPr>
                        <a:t>ціна</a:t>
                      </a:r>
                    </a:p>
                  </a:txBody>
                  <a:tcPr marL="91440" marR="91440" marT="36576" marB="36576" anchor="ctr">
                    <a:solidFill>
                      <a:srgbClr val="1F2B4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1F5F9"/>
                          </a:solidFill>
                          <a:latin typeface="Arial"/>
                        </a:rPr>
                        <a:t>Грінвальд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1F5F9"/>
                          </a:solidFill>
                          <a:latin typeface="Arial"/>
                        </a:rPr>
                        <a:t>f_GW = n̄ₑ / n_GW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1F5F9"/>
                          </a:solidFill>
                          <a:latin typeface="Arial"/>
                        </a:rPr>
                        <a:t>f_GW ≈ 1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1F5F9"/>
                          </a:solidFill>
                          <a:latin typeface="Arial"/>
                        </a:rPr>
                        <a:t>↓ уставка густини, ↓ D₂; ↑ Iₚ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1F5F9"/>
                          </a:solidFill>
                          <a:latin typeface="Arial"/>
                        </a:rPr>
                        <a:t>↑ Iₚ наближає кінк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1F5F9"/>
                          </a:solidFill>
                          <a:latin typeface="Arial"/>
                        </a:rPr>
                        <a:t>Кінк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1F5F9"/>
                          </a:solidFill>
                          <a:latin typeface="Arial"/>
                        </a:rPr>
                        <a:t>q95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1F5F9"/>
                          </a:solidFill>
                          <a:latin typeface="Arial"/>
                        </a:rPr>
                        <a:t>q95 ≈ 2,44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1F5F9"/>
                          </a:solidFill>
                          <a:latin typeface="Arial"/>
                        </a:rPr>
                        <a:t>↓ Iₚ; ↑ Bₜ, κ, δ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1F5F9"/>
                          </a:solidFill>
                          <a:latin typeface="Arial"/>
                        </a:rPr>
                        <a:t>↓ Iₚ наближає Грінвальда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1F5F9"/>
                          </a:solidFill>
                          <a:latin typeface="Arial"/>
                        </a:rPr>
                        <a:t>Радіація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1F5F9"/>
                          </a:solidFill>
                          <a:latin typeface="Arial"/>
                        </a:rPr>
                        <a:t>P_rad / P_in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1F5F9"/>
                          </a:solidFill>
                          <a:latin typeface="Arial"/>
                        </a:rPr>
                        <a:t>≈ 0,8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1F5F9"/>
                          </a:solidFill>
                          <a:latin typeface="Arial"/>
                        </a:rPr>
                        <a:t>неон → 0; ↑ нагрів; ↓ густина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1F5F9"/>
                          </a:solidFill>
                          <a:latin typeface="Arial"/>
                        </a:rPr>
                        <a:t>нагрів піднімає βN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1F5F9"/>
                          </a:solidFill>
                          <a:latin typeface="Arial"/>
                        </a:rPr>
                        <a:t>Тройон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1F5F9"/>
                          </a:solidFill>
                          <a:latin typeface="Arial"/>
                        </a:rPr>
                        <a:t>βN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1F5F9"/>
                          </a:solidFill>
                          <a:latin typeface="Arial"/>
                        </a:rPr>
                        <a:t>βN ≈ 2,4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1F5F9"/>
                          </a:solidFill>
                          <a:latin typeface="Arial"/>
                        </a:rPr>
                        <a:t>↓ нагрів; ↑ Iₚ, Bₜ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1F5F9"/>
                          </a:solidFill>
                          <a:latin typeface="Arial"/>
                        </a:rPr>
                        <a:t>менше утримання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532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Iₚ тягне в обидва боки</a:t>
            </a:r>
            <a:r>
              <a:rPr sz="1400" b="0" i="0">
                <a:solidFill>
                  <a:srgbClr val="94A3B8"/>
                </a:solidFill>
                <a:latin typeface="Arial"/>
              </a:rPr>
              <a:t> · густина реагує за ~0,3 с · неон накопичується за ~0,5 с — керувати треба завчасно, а не в момент тривоги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ag"/>
          <p:cNvSpPr txBox="1"/>
          <p:nvPr/>
        </p:nvSpPr>
        <p:spPr>
          <a:xfrm>
            <a:off x="548640" y="34747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59E0B"/>
                </a:solidFill>
                <a:latin typeface="Arial"/>
              </a:rPr>
              <a:t>ФІЗИЧНІ ОЗНАКИ ПРОТИ ДИНАМІКИ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F1F5F9"/>
                </a:solidFill>
                <a:latin typeface="Arial"/>
              </a:rPr>
              <a:t>Пам'ять у часі важить більше за фізичні проксі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10/15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600200"/>
          <a:ext cx="713232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909560" y="1600200"/>
            <a:ext cx="3749039" cy="1261872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110728" y="1761134"/>
            <a:ext cx="3346703" cy="940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4748B"/>
                </a:solidFill>
                <a:latin typeface="Arial"/>
              </a:rPr>
              <a:t>Фізичні проксі ≈ 0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агрегати й формули майже нічого не додають до сирих каналів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9560" y="3017520"/>
            <a:ext cx="3749039" cy="1261872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10728" y="3178454"/>
            <a:ext cx="3346703" cy="940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59E0B"/>
                </a:solidFill>
                <a:latin typeface="Arial"/>
              </a:rPr>
              <a:t>Динаміка — головне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лаги, тренди, ковзні статистики: +10 п.п.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09560" y="4434840"/>
            <a:ext cx="3749039" cy="1261872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10728" y="4595774"/>
            <a:ext cx="3346703" cy="940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0B981"/>
                </a:solidFill>
                <a:latin typeface="Arial"/>
              </a:rPr>
              <a:t>Наш дизайн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EMA на 3 масштабах + детектор передвісника: 63 %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Ті самі 200 розрядів інтерфейсу · запас 0,1 с · 5 % хибних тривог · частка зривів, спійманих вчасно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ag"/>
          <p:cNvSpPr txBox="1"/>
          <p:nvPr/>
        </p:nvSpPr>
        <p:spPr>
          <a:xfrm>
            <a:off x="548640" y="34747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8B5CF6"/>
                </a:solidFill>
                <a:latin typeface="Arial"/>
              </a:rPr>
              <a:t>РІШЕННЯ 2 · IMPACTNET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F1F5F9"/>
                </a:solidFill>
                <a:latin typeface="Arial"/>
              </a:rPr>
              <a:t>ImpactNet називає причину кожного зриву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11/15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1554480" cy="178308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1792" y="1737360"/>
            <a:ext cx="1408176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22D3EE"/>
                </a:solidFill>
                <a:latin typeface="Arial"/>
              </a:rPr>
              <a:t>218 входів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100 приладів
+ маски відмов
+ 18 фіз. величин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30552" y="2423160"/>
            <a:ext cx="219456" cy="256032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2377440" y="1691640"/>
            <a:ext cx="1554480" cy="178308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 w="1905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450592" y="1737360"/>
            <a:ext cx="1408176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6366F1"/>
                </a:solidFill>
                <a:latin typeface="Arial"/>
              </a:rPr>
              <a:t>Згортки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причинні,
вікно 155 мс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959352" y="2423160"/>
            <a:ext cx="219456" cy="256032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206240" y="1691640"/>
            <a:ext cx="1554480" cy="178308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279392" y="1737360"/>
            <a:ext cx="1408176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8B5CF6"/>
                </a:solidFill>
                <a:latin typeface="Arial"/>
              </a:rPr>
              <a:t>GRU (128)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пам'ять
розряду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788152" y="2423160"/>
            <a:ext cx="219456" cy="256032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035040" y="1691640"/>
            <a:ext cx="1554480" cy="178308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08192" y="1737360"/>
            <a:ext cx="1408176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F97316"/>
                </a:solidFill>
                <a:latin typeface="Arial"/>
              </a:rPr>
              <a:t>5 нейронів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+ фізичне
априорі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749039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48640" y="3749039"/>
            <a:ext cx="1325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B1120"/>
                </a:solidFill>
                <a:latin typeface="Arial"/>
              </a:rPr>
              <a:t>Грінвальд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84248" y="3749039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984248" y="3749039"/>
            <a:ext cx="1325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B1120"/>
                </a:solidFill>
                <a:latin typeface="Arial"/>
              </a:rPr>
              <a:t>q95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9856" y="3749039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419856" y="3749039"/>
            <a:ext cx="1325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B1120"/>
                </a:solidFill>
                <a:latin typeface="Arial"/>
              </a:rPr>
              <a:t>радіація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55464" y="3749039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855464" y="3749039"/>
            <a:ext cx="1325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B1120"/>
                </a:solidFill>
                <a:latin typeface="Arial"/>
              </a:rPr>
              <a:t>Тройон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91072" y="3749039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91072" y="3749039"/>
            <a:ext cx="1325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B1120"/>
                </a:solidFill>
                <a:latin typeface="Arial"/>
              </a:rPr>
              <a:t>інші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389120"/>
            <a:ext cx="7040880" cy="146304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49808" y="4550054"/>
            <a:ext cx="6638544" cy="114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1F5F9"/>
                </a:solidFill>
                <a:latin typeface="Arial"/>
              </a:rPr>
              <a:t>частки = 100·Cₖ / ΣC,  Cₖ = −ln(1 − rₖᵖ)  →  сума рівно 100 %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1F5F9"/>
                </a:solidFill>
                <a:latin typeface="Arial"/>
              </a:rPr>
              <a:t>ризик λ = 1 − e^(−ΣC)  —  та сама формула, що в симуляторі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F1F5F9"/>
                </a:solidFill>
                <a:latin typeface="Arial"/>
              </a:rPr>
              <a:t>P(зрив за h с) = 1 − e^(−λh)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01000" y="1691640"/>
            <a:ext cx="3657600" cy="1261872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02168" y="1852574"/>
            <a:ext cx="3255264" cy="940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8B5CF6"/>
                </a:solidFill>
                <a:latin typeface="Arial"/>
              </a:rPr>
              <a:t>49 / 49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головна причина
в момент зриву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01000" y="3108960"/>
            <a:ext cx="3657600" cy="1261872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202168" y="3269894"/>
            <a:ext cx="3255264" cy="940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0B981"/>
                </a:solidFill>
                <a:latin typeface="Arial"/>
              </a:rPr>
              <a:t>0,996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R² загального ризику 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01000" y="4526280"/>
            <a:ext cx="3657600" cy="1261872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202168" y="4687214"/>
            <a:ext cx="3255264" cy="940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22D3EE"/>
                </a:solidFill>
                <a:latin typeface="Arial"/>
              </a:rPr>
              <a:t>0,6 мс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крок, лише numpy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200 тестових розрядів, яких мережа не бачила · 20 зривів від Грінвальда, 15 від q95, 14 від радіації — усі вгадані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ag"/>
          <p:cNvSpPr txBox="1"/>
          <p:nvPr/>
        </p:nvSpPr>
        <p:spPr>
          <a:xfrm>
            <a:off x="548640" y="34747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8B5CF6"/>
                </a:solidFill>
                <a:latin typeface="Arial"/>
              </a:rPr>
              <a:t>ГОЛОВНИЙ ІНСАЙТ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F1F5F9"/>
                </a:solidFill>
                <a:latin typeface="Arial"/>
              </a:rPr>
              <a:t>Точна λ не попереджає: потрібні дві моделі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12/15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600200"/>
          <a:ext cx="57607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5216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Об'єм як сигналізація, ті самі 200 тестових розрядів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600200"/>
            <a:ext cx="5166360" cy="160020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693407" y="1761134"/>
            <a:ext cx="4764024" cy="12783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8B5CF6"/>
                </a:solidFill>
                <a:latin typeface="Arial"/>
              </a:rPr>
              <a:t>Дві ролі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Arial"/>
              </a:rPr>
              <a:t>«коли» — модель тривоги: бачить передвісник після кидка кубика
«чому» — ImpactNet: розкладає ризик на механізми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92240" y="3429000"/>
          <a:ext cx="5166360" cy="2194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80360"/>
                <a:gridCol w="1188720"/>
                <a:gridCol w="10972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94A3B8"/>
                          </a:solidFill>
                          <a:latin typeface="Arial"/>
                        </a:rPr>
                        <a:t>навчання без розмітки λ</a:t>
                      </a:r>
                    </a:p>
                  </a:txBody>
                  <a:tcPr marL="91440" marR="91440" marT="36576" marB="36576" anchor="ctr">
                    <a:solidFill>
                      <a:srgbClr val="1F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94A3B8"/>
                          </a:solidFill>
                          <a:latin typeface="Arial"/>
                        </a:rPr>
                        <a:t>причин
вгадано</a:t>
                      </a:r>
                    </a:p>
                  </a:txBody>
                  <a:tcPr marL="91440" marR="91440" marT="36576" marB="36576" anchor="ctr">
                    <a:solidFill>
                      <a:srgbClr val="1F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94A3B8"/>
                          </a:solidFill>
                          <a:latin typeface="Arial"/>
                        </a:rPr>
                        <a:t>R² λ</a:t>
                      </a:r>
                    </a:p>
                  </a:txBody>
                  <a:tcPr marL="91440" marR="91440" marT="36576" marB="36576" anchor="ctr">
                    <a:solidFill>
                      <a:srgbClr val="1F2B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1F5F9"/>
                          </a:solidFill>
                          <a:latin typeface="Arial"/>
                        </a:rPr>
                        <a:t>з мітками λ (основна)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F1F5F9"/>
                          </a:solidFill>
                          <a:latin typeface="Arial"/>
                        </a:rPr>
                        <a:t>49 / 49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F1F5F9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1F5F9"/>
                          </a:solidFill>
                          <a:latin typeface="Arial"/>
                        </a:rPr>
                        <a:t>лише моменти зривів + априорі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F1F5F9"/>
                          </a:solidFill>
                          <a:latin typeface="Arial"/>
                        </a:rPr>
                        <a:t>49 / 49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F1F5F9"/>
                          </a:solidFill>
                          <a:latin typeface="Arial"/>
                        </a:rPr>
                        <a:t>0,948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1F5F9"/>
                          </a:solidFill>
                          <a:latin typeface="Arial"/>
                        </a:rPr>
                        <a:t>без фізичного априорі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F1F5F9"/>
                          </a:solidFill>
                          <a:latin typeface="Arial"/>
                        </a:rPr>
                        <a:t>41 / 49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F1F5F9"/>
                          </a:solidFill>
                          <a:latin typeface="Arial"/>
                        </a:rPr>
                        <a:t>0,660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92240" y="5760720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Як на справжньому реакторі: λ невідома, є лише моменти зривів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ag"/>
          <p:cNvSpPr txBox="1"/>
          <p:nvPr/>
        </p:nvSpPr>
        <p:spPr>
          <a:xfrm>
            <a:off x="548640" y="34747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97316"/>
                </a:solidFill>
                <a:latin typeface="Arial"/>
              </a:rPr>
              <a:t>СИМУЛЯТОР З КЕРУВАННЯМ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F1F5F9"/>
                </a:solidFill>
                <a:latin typeface="Arial"/>
              </a:rPr>
              <a:t>Модель сама керує розрядом у реальному часі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13/15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3566160" cy="146304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97316"/>
                </a:solidFill>
                <a:latin typeface="Arial"/>
              </a:rPr>
              <a:t>Прогноз зриву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p = 0,41 · λ = 0,52
графік p у реальному часі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38328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3520440"/>
            <a:ext cx="32004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8B5CF6"/>
                </a:solidFill>
                <a:latin typeface="Arial"/>
              </a:rPr>
              <a:t>Чинники зараз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91640"/>
            <a:ext cx="3703320" cy="146304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26280" y="1828800"/>
            <a:ext cx="3337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0B981"/>
                </a:solidFill>
                <a:latin typeface="Arial"/>
              </a:rPr>
              <a:t>Порадник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загроза: Грінвальд
«знизити уставку густини до 0,62, D₂ удвічі»
[Застосувати]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3383280"/>
            <a:ext cx="3703320" cy="237744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26280" y="3520440"/>
            <a:ext cx="33375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2D3EE"/>
                </a:solidFill>
                <a:latin typeface="Arial"/>
              </a:rPr>
              <a:t>Автокерування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дія, коли p &gt; поріг
пауза 0,3 с (плазма реагує)
кожна дія — у журнал
+ 10 повзунків уставок для ручного керування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31920"/>
            <a:ext cx="10972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Грінвальд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28800" y="3995928"/>
            <a:ext cx="1614830" cy="201168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489350" y="3931920"/>
            <a:ext cx="640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F1F5F9"/>
                </a:solidFill>
                <a:latin typeface="Arial"/>
              </a:rPr>
              <a:t>78 %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10972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радіація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0" y="4407408"/>
            <a:ext cx="347472" cy="20116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21992" y="4343400"/>
            <a:ext cx="640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F1F5F9"/>
                </a:solidFill>
                <a:latin typeface="Arial"/>
              </a:rPr>
              <a:t>15 %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754880"/>
            <a:ext cx="10972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q95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0" y="4818888"/>
            <a:ext cx="146304" cy="20116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020824" y="4754880"/>
            <a:ext cx="640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F1F5F9"/>
                </a:solidFill>
                <a:latin typeface="Arial"/>
              </a:rPr>
              <a:t>5 %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166360"/>
            <a:ext cx="10972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інші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28800" y="5230368"/>
            <a:ext cx="85953" cy="201168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960473" y="5166360"/>
            <a:ext cx="640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F1F5F9"/>
                </a:solidFill>
                <a:latin typeface="Arial"/>
              </a:rPr>
              <a:t>2 %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8275320" y="1691640"/>
          <a:ext cx="3383280" cy="28346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214884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94A3B8"/>
                          </a:solidFill>
                          <a:latin typeface="Arial"/>
                        </a:rPr>
                        <a:t>загроза</a:t>
                      </a:r>
                    </a:p>
                  </a:txBody>
                  <a:tcPr marL="91440" marR="91440" marT="36576" marB="36576" anchor="ctr">
                    <a:solidFill>
                      <a:srgbClr val="1F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94A3B8"/>
                          </a:solidFill>
                          <a:latin typeface="Arial"/>
                        </a:rPr>
                        <a:t>дія порадника</a:t>
                      </a:r>
                    </a:p>
                  </a:txBody>
                  <a:tcPr marL="91440" marR="91440" marT="36576" marB="36576" anchor="ctr">
                    <a:solidFill>
                      <a:srgbClr val="1F2B4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1F5F9"/>
                          </a:solidFill>
                          <a:latin typeface="Arial"/>
                        </a:rPr>
                        <a:t>Грінвальд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густина × 0,85; D₂ × 0,5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1F5F9"/>
                          </a:solidFill>
                          <a:latin typeface="Arial"/>
                        </a:rPr>
                        <a:t>Кінк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Iₚ до q95 ≈ 3 (≥ 1 МА)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1F5F9"/>
                          </a:solidFill>
                          <a:latin typeface="Arial"/>
                        </a:rPr>
                        <a:t>Радіація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неон → 0; NBI + 5 МВт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1F5F9"/>
                          </a:solidFill>
                          <a:latin typeface="Arial"/>
                        </a:rPr>
                        <a:t>Тройон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1F5F9"/>
                          </a:solidFill>
                          <a:latin typeface="Arial"/>
                        </a:rPr>
                        <a:t>NBI × 0,8</a:t>
                      </a:r>
                    </a:p>
                  </a:txBody>
                  <a:tcPr marL="91440" marR="91440" marT="36576" marB="36576" anchor="ctr">
                    <a:solidFill>
                      <a:srgbClr val="16203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8275320" y="466344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Повзунки: Iₚ, Bₜ, густина, D₂, неон, NBI, ICH, ECH, κ, 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Схема панелі «Керування» симулятора fusion-sim (JET, крок 5 мс); значення — ілюстрація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ag"/>
          <p:cNvSpPr txBox="1"/>
          <p:nvPr/>
        </p:nvSpPr>
        <p:spPr>
          <a:xfrm>
            <a:off x="548640" y="34747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97316"/>
                </a:solidFill>
                <a:latin typeface="Arial"/>
              </a:rPr>
              <a:t>ЗАМКНЕНИЙ КОНТУР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F1F5F9"/>
                </a:solidFill>
                <a:latin typeface="Arial"/>
              </a:rPr>
              <a:t>З автокеруванням зривів удвічі менше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14/15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120640" cy="324612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984248"/>
            <a:ext cx="4389120" cy="2660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0" b="1" i="0">
                <a:solidFill>
                  <a:srgbClr val="F97316"/>
                </a:solidFill>
                <a:latin typeface="Arial"/>
              </a:rPr>
              <a:t>11 → 5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F1F5F9"/>
                </a:solidFill>
                <a:latin typeface="Arial"/>
              </a:rPr>
              <a:t>зривів на 40 розрядах  (−55 %)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Arial"/>
              </a:rPr>
              <a:t>модель v8 · поріг 0,25 · сид 3 · ті самі розряди без керування і з ним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69164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80760" y="1691640"/>
            <a:ext cx="246888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22D3EE"/>
                </a:solidFill>
                <a:latin typeface="Arial"/>
              </a:rPr>
              <a:t>Прилади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69164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61120" y="1691640"/>
            <a:ext cx="246888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10B981"/>
                </a:solidFill>
                <a:latin typeface="Arial"/>
              </a:rPr>
              <a:t>Тривога
(модель)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338328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961120" y="3383280"/>
            <a:ext cx="246888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8B5CF6"/>
                </a:solidFill>
                <a:latin typeface="Arial"/>
              </a:rPr>
              <a:t>Причина
(ImpactNet)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338328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080760" y="3383280"/>
            <a:ext cx="246888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97316"/>
                </a:solidFill>
                <a:latin typeface="Arial"/>
              </a:rPr>
              <a:t>Дія
(порадник)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595360" y="2167128"/>
            <a:ext cx="365760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Down Arrow 15"/>
          <p:cNvSpPr/>
          <p:nvPr/>
        </p:nvSpPr>
        <p:spPr>
          <a:xfrm>
            <a:off x="10058400" y="2971800"/>
            <a:ext cx="274320" cy="384048"/>
          </a:xfrm>
          <a:prstGeom prst="down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Left Arrow 16"/>
          <p:cNvSpPr/>
          <p:nvPr/>
        </p:nvSpPr>
        <p:spPr>
          <a:xfrm>
            <a:off x="8595360" y="3858768"/>
            <a:ext cx="365760" cy="274320"/>
          </a:xfrm>
          <a:prstGeom prst="lef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Up Arrow 17"/>
          <p:cNvSpPr/>
          <p:nvPr/>
        </p:nvSpPr>
        <p:spPr>
          <a:xfrm>
            <a:off x="7178040" y="2971800"/>
            <a:ext cx="274320" cy="384048"/>
          </a:xfrm>
          <a:prstGeom prst="up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080760" y="507492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плазма реагує → прилади → … (кожні 5 мс)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49240"/>
            <a:ext cx="2500884" cy="384048"/>
          </a:xfrm>
          <a:prstGeom prst="roundRect">
            <a:avLst>
              <a:gd name="adj" fmla="val 50000"/>
            </a:avLst>
          </a:prstGeom>
          <a:solidFill>
            <a:srgbClr val="1F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8640" y="5349240"/>
            <a:ext cx="25008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9E0B"/>
                </a:solidFill>
                <a:latin typeface="Arial"/>
              </a:rPr>
              <a:t>попередньо: 40 розрядів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14116" y="5349240"/>
            <a:ext cx="1732788" cy="384048"/>
          </a:xfrm>
          <a:prstGeom prst="roundRect">
            <a:avLst>
              <a:gd name="adj" fmla="val 50000"/>
            </a:avLst>
          </a:prstGeom>
          <a:solidFill>
            <a:srgbClr val="1F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214116" y="5349240"/>
            <a:ext cx="173278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9E0B"/>
                </a:solidFill>
                <a:latin typeface="Arial"/>
              </a:rPr>
              <a:t>канали без шуму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11496" y="5349240"/>
            <a:ext cx="3653027" cy="384048"/>
          </a:xfrm>
          <a:prstGeom prst="roundRect">
            <a:avLst>
              <a:gd name="adj" fmla="val 50000"/>
            </a:avLst>
          </a:prstGeom>
          <a:solidFill>
            <a:srgbClr val="1F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111496" y="5349240"/>
            <a:ext cx="3653027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94A3B8"/>
                </a:solidFill>
                <a:latin typeface="Arial"/>
              </a:rPr>
              <a:t>далі: 200 розрядів + ціна керування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ag"/>
          <p:cNvSpPr txBox="1"/>
          <p:nvPr/>
        </p:nvSpPr>
        <p:spPr>
          <a:xfrm>
            <a:off x="548640" y="34747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B981"/>
                </a:solidFill>
                <a:latin typeface="Arial"/>
              </a:rPr>
              <a:t>ПІДСУМОК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F1F5F9"/>
                </a:solidFill>
                <a:latin typeface="Arial"/>
              </a:rPr>
              <a:t>Коли, чому і що робити — у реальному часі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15/15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2560320" cy="214884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1852574"/>
            <a:ext cx="2157984" cy="1826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10B981"/>
                </a:solidFill>
                <a:latin typeface="Arial"/>
              </a:rPr>
              <a:t>0,924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1F5F9"/>
                </a:solidFill>
                <a:latin typeface="Arial"/>
              </a:rPr>
              <a:t>Коли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модель тривоги без формул і підказок;
98 % зривів за 30 мс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691640"/>
            <a:ext cx="2560320" cy="214884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93008" y="1852574"/>
            <a:ext cx="2157984" cy="1826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8B5CF6"/>
                </a:solidFill>
                <a:latin typeface="Arial"/>
              </a:rPr>
              <a:t>49 / 49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1F5F9"/>
                </a:solidFill>
                <a:latin typeface="Arial"/>
              </a:rPr>
              <a:t>Чому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ImpactNet: частки 5 механізмів,
та сама λ, що в симуляторі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691640"/>
            <a:ext cx="2560320" cy="2148840"/>
          </a:xfrm>
          <a:prstGeom prst="roundRect">
            <a:avLst>
              <a:gd name="adj" fmla="val 8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236207" y="1852574"/>
            <a:ext cx="2157984" cy="1826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F97316"/>
                </a:solidFill>
                <a:latin typeface="Arial"/>
              </a:rPr>
              <a:t>11 → 5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1F5F9"/>
                </a:solidFill>
                <a:latin typeface="Arial"/>
              </a:rPr>
              <a:t>Що робити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порадник і автокерування
у замкненому контурі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97680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59E0B"/>
                </a:solidFill>
                <a:latin typeface="Arial"/>
              </a:rPr>
              <a:t>Далі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7863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Arial"/>
              </a:rPr>
              <a:t>контур на 200+ розрядах і з шумом приладів · ціна керування (струм, енергія) · довчання ImpactNet лише з моментів зривів на реальних даних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400" y="1691640"/>
            <a:ext cx="274320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p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828800"/>
            <a:ext cx="2468880" cy="2468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03920" y="4572000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1F5F9"/>
                </a:solidFill>
                <a:latin typeface="Arial"/>
              </a:rPr>
              <a:t>Код, моделі, звіти заліку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2D3EE"/>
                </a:solidFill>
                <a:latin typeface="Arial"/>
              </a:rPr>
              <a:t>github.com/llllenah/plasma-disruption-prediction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0B981"/>
                </a:solidFill>
                <a:latin typeface="Arial"/>
              </a:rPr>
              <a:t>Дякуємо! Питання?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