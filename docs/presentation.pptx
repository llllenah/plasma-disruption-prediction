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≈30 с. Тема: прогнозування зривів плазми в токамаці в реальному часі за даними 100 діагностик симулятора JET-подібної установки. Три результати: модель тривоги без формул і без підказок, нейромережа атрибуції механізмів зриву ImpactNet і замкнений контур керування в симуляторі.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Зрив — швидка втрата утримання плазми: після запуску 50–100 мс розвивається передвісник (запирання моди, locked mode), далі термічне гасіння за 1–2 мс. Модель отримує 100 діагностичних сигналів кожні 5 мс і повертає ймовірність зриву, використовуючи лише минуле. Тривога зараховується, якщо випереджає термічне гасіння щонайменше на lead; поріг підбирається під бюджет хибних тривог. Інтегральна метрика — об'єм: середня площа під кривою TPR(FPR) за запасами 10 мс–1 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Базове рішення організаторів — поріг на частці межі Грінвальда та сигналі запирання моди. Об'єм 0,765; на запасі 0,1 с ROC AUC лише 0,69 — тобто на ранньому горизонті воно майже не відрізняє зривні розряди від тихих. Причини: одна величина без пам'яті, шум діагностик безпосередньо впливає на поріг, кінк і радіаційний колапс не враховано.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Перевірено п'ять гіпотез. Чотири підтверджено. Четверта спростована і дала головний висновок: навіть точна інтенсивність зриву λ — слабкий сигнал тривоги, бо зрив — пуассонівський процес; тому потрібні дві моделі — «коли» і «чому».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Дані генеруються симулятором за незалежними сидами; навчання і тест не перетинаються. Оцінка — офіційний засіб toksym score на чотирьох наборах, 747 розрядів, 228 зривів. Порівняння моделей — парний бутстреп на тих самих розрядах; критерій прийняття P &gt; 0,9 зафіксовано до експерименту. Ознаки причинні: той самий код працює у навчанні та в заліку.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≈60 с. Поріг — не характеристика моделі: його підбирає засіб оцінки під бюджет хибних тривог, а шкала ймовірностей у моделей різна (XGBoost 0,73–0,76, наші 0,23–0,42). Більше того, на малій вибірці поріг нестабільний: у прогоні симулятора 50 розрядів, 35 тихих, бюджет 5 % дозволяє одну хибну тривогу; один тихий розряд з p = 0,398 задає поріг, і частка вчасних тривог на 0,1 с — 25 %; при двох дозволених — 67 %. Тому порівнюємо ROC AUC — площу під кривою TPR(FPR), що не залежить від порогу.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Моделі з фізичними ознаками та міткою сценарію — до 0,944. Мітку сценарію визнано артефактом симулятора, формули шпаргалки виключено правилами — 0,914; збільшення вибірки до 4 500 розрядів — 0,924, P = 0,97. Ансамбль дав 0,930, але на ноутбуці 16 % кроків перевищують 5 мс — вимога реального часу порушена, тож фінальне рішення — clean_big.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Усі моделі прогнано в інтерфейсі заліку на однакових 200 розрядах, запас 0,1 с, бюджет 5 %. XGBoost без пам'яті — 25–35 % і 5–9 пропущених зривів; наші моделі з пам'яттю на трьох масштабах і детектором передвісника — 57–67 % і 0–1 пропущених. Висновок: визначальна інформація — динаміка сигналу, а не статичні фізичні проксі.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Ознаки обчислюються онлайн: експоненційні середні на 50 мс, 250 мс і 1 с, тренди, детектор передвісника — енергія швидкої складової сигналу сідлової петлі та зондів Мірнова, команди актуаторів. Голова A — класифікатор «гасіння ≤ 0,1 с», голова B — «≤ 4,5 с». Вихід — максимум, обнуління на запрограмованому спаді струму, згладжування, біжучий максимум.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Розряд з тестового набору, сценарій зростання густини. Ймовірність моделі тривоги перетинає поріг за 1,24 с до термічного гасіння. ImpactNet: щойно інтенсивність зриву стає помітною, 98–100 % припадає на межу Грінвальда; оцінка λ мережею збігається з істинною λ симулятора, недоступною мережі.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Інтенсивність зриву у симуляторі: λ = 1 − Π(1 − rᵢ³)(1 − r_lm), де rᵢ — сигмоїда відстані до межі Грінвальда, кінк-нестійкості за q95, радіаційного колапсу і межі Тройона. Зрив — пуассонівський процес з інтенсивністю λ. Кожну межу можна відсунути актуатором, але впливи пов'язані: струм плазми діє в протилежних напрямках на Грінвальда і кінк; густина релаксує за ~0,3 с, домішка неону — за ~0,5 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П'ять вихідних нейронів — межа Грінвальда, кінк, радіація, Тройон, інші. Кожен нейрон — параметрична форма ризику симулятора плюс навчена поправка; тому частки сумуються рівно до 100 %, а загальна інтенсивність — та сама λ. Причинні згортки з вікном 155 мс, GRU — пам'ять розряду. Мітки — істинний ризик, на вхід — лише 100 діагностик. Результат: 49 з 49 механізмів, R² 0,996, 0,6 мс на крок.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Як сигнал тривоги ImpactNet дає 0,77, але й істинна λ симулятора — 0,78: зрив — пуассонівський процес, тихі розряди теж наближаються до меж. Тому функції розділено: модель тривоги визначає момент, ImpactNet — причину. На реальній установці λ невідома; ImpactNet навчено лише за моментами зривів (пуассонівська правдоподібність) — 49 з 49 з фізичним апріорі, 41 без нього.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Симулятор fusion-sim з керуванням у реальному часі: модель тривоги + ImpactNet + порадник. Замкнений контур на 40 розрядах: 11 зривів без керування, 5 з керуванням. Атрибуція на новому рушії: 10 з 12 механізмів, межа Грінвальда і радіація — без помилок; кінк недооцінено — калібрування q95 за діагностиками потребує уточнення для безшумного рушія.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Модель тривоги без формул і без підказок: об'єм 0,924 проти 0,765, ROC AUC 0,998 на 30 мс. ImpactNet визначає механізм зриву — 49 з 49. Замкнений контур зменшує кількість зривів удвічі. Порівняння моделей проводимо за ROC AUC, оскільки поріг неінформативний. Код і звіти — у репозиторії.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моделі для відповідей на питання. Raw — 101 сирий канал; Physics — +25 агрегатів (потужність нагріву, хорди, RMS Мірнова, Dα, ECE, болометри)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моделі для відповідей на питання. Дві голови HGB: передвісник (≤ 0,1 с) і рання тривога (≤ 4,5 с)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моделі для відповідей на питання. Найвищий об'єм серед усіх моделей (0,944), але використовує формули шпаргалки та мітку сценарію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моделі для відповідей на питання. Вилучено всі формули шпаргалки; залишено мітку сценарію з метаданих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моделі для відповідей на питання. Без формул шпаргалки, без мітки сценарію і таймерів; 4 500 навчальних розрядів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моделі для відповідей на питання. Об'єм 0,930 (+0,006, P = 0,99), але крок 3 мс і 16 % кроків &gt; 5 мс на ноутбуці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моделі для відповідей на питання. Механізм визначено в 10 з 12 зривів: межа Грінвальда 7/7, радіація 3/3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Arial"/>
              </a:rPr>
              <a:t>ХАКАТОН ФМФ КПІ · 9–11 ЖОВТНЯ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Передбачення зриву плазми · ФМФ КПІ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1/22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>
                <a:solidFill>
                  <a:srgbClr val="0F172A"/>
                </a:solidFill>
                <a:latin typeface="Arial"/>
              </a:rPr>
              <a:t>Прогнозування та атрибуція зривів плазми в токамаці в реальному часі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4612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475569"/>
                </a:solidFill>
                <a:latin typeface="Arial"/>
              </a:rPr>
              <a:t>Онлайн-класифікація за 100 діагностиками (крок 5 мс) · нейромережа причин ImpactNet з фізичним апріорі · замкнений контур керування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343400"/>
            <a:ext cx="2606040" cy="118872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4504334"/>
            <a:ext cx="2203704" cy="8668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059669"/>
                </a:solidFill>
                <a:latin typeface="Arial"/>
              </a:rPr>
              <a:t>0,924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об'єм заліку (базове рішення 0,765)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64992" y="4343400"/>
            <a:ext cx="2606040" cy="118872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4504334"/>
            <a:ext cx="2203704" cy="8668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059669"/>
                </a:solidFill>
                <a:latin typeface="Arial"/>
              </a:rPr>
              <a:t>0,998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ROC AUC на запасі 30 мс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4343400"/>
            <a:ext cx="2606040" cy="118872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2512" y="4504334"/>
            <a:ext cx="2203704" cy="8668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7C3AED"/>
                </a:solidFill>
                <a:latin typeface="Arial"/>
              </a:rPr>
              <a:t>49 / 49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механізмів зриву визначено вірно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97696" y="4343400"/>
            <a:ext cx="2606040" cy="118872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98864" y="4504334"/>
            <a:ext cx="2203704" cy="8668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EA580C"/>
                </a:solidFill>
                <a:latin typeface="Arial"/>
              </a:rPr>
              <a:t>11 → 5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зривів з автокеруванням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Дмитрій Почко · Олександр Чорій · Ілля Симоненко · Олена Сергієнко · Софія Щербина · Арина Яковець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Arial"/>
              </a:rPr>
              <a:t>РОЗДІЛ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F172A"/>
                </a:solidFill>
                <a:latin typeface="Arial"/>
              </a:rPr>
              <a:t>1 Постановка задачі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Передбачення зриву плазми · ФМФ КПІ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2/22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4754880" cy="96012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669694"/>
            <a:ext cx="4352544" cy="638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F172A"/>
                </a:solidFill>
                <a:latin typeface="Arial"/>
              </a:rPr>
              <a:t>Фізичний процес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запуск зриву → передвісник (locked mode) 50–100 мс → термічне гасіння 1–2 мс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06039"/>
            <a:ext cx="4754880" cy="96012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766974"/>
            <a:ext cx="4352544" cy="638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F172A"/>
                </a:solidFill>
                <a:latin typeface="Arial"/>
              </a:rPr>
              <a:t>Вхідні дані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100 діагностик: магнітні зонди, інтерферометр, ECE, болометри, SXR, газ, нагрів; крок 5 мс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703320"/>
            <a:ext cx="4754880" cy="96012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3864254"/>
            <a:ext cx="4352544" cy="638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F172A"/>
                </a:solidFill>
                <a:latin typeface="Arial"/>
              </a:rPr>
              <a:t>Постановка ML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онлайн-класифікація часового ряду: p(t) ∈ [0, 1] лише з минулого, ≤ 5 мс на крок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800600"/>
            <a:ext cx="4754880" cy="96012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4961534"/>
            <a:ext cx="4352544" cy="638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F172A"/>
                </a:solidFill>
                <a:latin typeface="Arial"/>
              </a:rPr>
              <a:t>Критерій якості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тривога ≥ lead до гасіння при FPR ≤ бюджету; об'єм = ⟨AUC⟩ за запасами 0,01–1 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32704" y="1472184"/>
            <a:ext cx="6062472" cy="2671258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ui_ro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1508760"/>
            <a:ext cx="5989320" cy="259810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80" y="4198306"/>
            <a:ext cx="6035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Arial"/>
              </a:rPr>
              <a:t>Інтерфейс заліку: рядок — розряд; заливка — p моделі; червона риска — термічне гасіння; кольорова — тривога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Arial"/>
              </a:rPr>
              <a:t>РОЗДІЛ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F172A"/>
                </a:solidFill>
                <a:latin typeface="Arial"/>
              </a:rPr>
              <a:t>2 Аналіз базового рішення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Передбачення зриву плазми · ФМФ КПІ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3/22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5120640" cy="420624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728216"/>
            <a:ext cx="4572000" cy="37673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EA580C"/>
                </a:solidFill>
                <a:latin typeface="Arial"/>
              </a:rPr>
              <a:t>Базове рішення організаторів</a:t>
            </a:r>
          </a:p>
          <a:p>
            <a:pPr algn="l">
              <a:spcAft>
                <a:spcPts val="0"/>
              </a:spcAft>
            </a:pPr>
            <a:r>
              <a:rPr sz="5000" b="1">
                <a:solidFill>
                  <a:srgbClr val="EA580C"/>
                </a:solidFill>
                <a:latin typeface="Arial"/>
              </a:rPr>
              <a:t>0,765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об'єм заліку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0F172A"/>
                </a:solidFill>
                <a:latin typeface="Arial"/>
              </a:rPr>
              <a:t>ROC AUC: 30 мс 0,935 · 0,1 с 0,688 · 1 с 0,583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0F172A"/>
                </a:solidFill>
                <a:latin typeface="Arial"/>
              </a:rPr>
              <a:t>Поріг на f_GW + сигнал запирання моди (сідлова петля)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508760"/>
            <a:ext cx="5623560" cy="1261872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36207" y="1669694"/>
            <a:ext cx="5221224" cy="940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DC2626"/>
                </a:solidFill>
                <a:latin typeface="Arial"/>
              </a:rPr>
              <a:t>Одна фізична величина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не враховано кінк-нестійкість (q95) і радіаційний колапс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2926080"/>
            <a:ext cx="5623560" cy="1261872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36207" y="3087014"/>
            <a:ext cx="5221224" cy="940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DC2626"/>
                </a:solidFill>
                <a:latin typeface="Arial"/>
              </a:rPr>
              <a:t>Відсутність пам'яті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миттєве значення без трендів і передісторії розряду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4343400"/>
            <a:ext cx="5623560" cy="1261872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6207" y="4504334"/>
            <a:ext cx="5221224" cy="940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DC2626"/>
                </a:solidFill>
                <a:latin typeface="Arial"/>
              </a:rPr>
              <a:t>Чутливість до шуму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дрейф і шум діагностик безпосередньо зсувають поріг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85216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Arial"/>
              </a:rPr>
              <a:t>ROC AUC на рівні розрядів, офіційний toksym score (набори сид 1 і сид 1 shift)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Arial"/>
              </a:rPr>
              <a:t>РОЗДІЛ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F172A"/>
                </a:solidFill>
                <a:latin typeface="Arial"/>
              </a:rPr>
              <a:t>3 Гіпотези дослідження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Передбачення зриву плазми · ФМФ КПІ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4/22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3566160" cy="196596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755648"/>
            <a:ext cx="566928" cy="38404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755648"/>
            <a:ext cx="56692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H1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755648"/>
            <a:ext cx="2468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59669"/>
                </a:solidFill>
                <a:latin typeface="Arial"/>
              </a:rPr>
              <a:t>підтверджено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331720"/>
            <a:ext cx="3200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Arial"/>
              </a:rPr>
              <a:t>Два детектори: передвісник і рання тривога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двоголовий бустинг: +0,16 об'єму до базового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1554480"/>
            <a:ext cx="3566160" cy="196596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17136" y="1755648"/>
            <a:ext cx="566928" cy="38404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17136" y="1755648"/>
            <a:ext cx="56692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H2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30368" y="1755648"/>
            <a:ext cx="2468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59669"/>
                </a:solidFill>
                <a:latin typeface="Arial"/>
              </a:rPr>
              <a:t>підтверджено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7136" y="2331720"/>
            <a:ext cx="3200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Arial"/>
              </a:rPr>
              <a:t>Формули шпаргалки не є необхідними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згладжених сирих сигналів досить: 0,924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83296" y="1554480"/>
            <a:ext cx="3566160" cy="196596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84464" y="1755648"/>
            <a:ext cx="566928" cy="38404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84464" y="1755648"/>
            <a:ext cx="56692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H3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97696" y="1755648"/>
            <a:ext cx="2468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59669"/>
                </a:solidFill>
                <a:latin typeface="Arial"/>
              </a:rPr>
              <a:t>підтверджено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4" y="2331720"/>
            <a:ext cx="3200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Arial"/>
              </a:rPr>
              <a:t>Мітка сценарію — артефакт симулятора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scen_none ⇒ зриву немає; вилучення: −0,01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432304" y="3749039"/>
            <a:ext cx="3566160" cy="196596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633472" y="3950207"/>
            <a:ext cx="566928" cy="384048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33472" y="3950207"/>
            <a:ext cx="56692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H4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46704" y="3950207"/>
            <a:ext cx="2468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A580C"/>
                </a:solidFill>
                <a:latin typeface="Arial"/>
              </a:rPr>
              <a:t>спростовано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33472" y="4526279"/>
            <a:ext cx="3200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Arial"/>
              </a:rPr>
              <a:t>Точна λ достатня для тривоги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спростовано: справжня λ дає лише 0,78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9631" y="3749039"/>
            <a:ext cx="3566160" cy="196596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00799" y="3950207"/>
            <a:ext cx="566928" cy="38404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799" y="3950207"/>
            <a:ext cx="56692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H5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4031" y="3950207"/>
            <a:ext cx="2468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59669"/>
                </a:solidFill>
                <a:latin typeface="Arial"/>
              </a:rPr>
              <a:t>підтверджено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799" y="4526279"/>
            <a:ext cx="3200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Arial"/>
              </a:rPr>
              <a:t>Фізичне апріорі забезпечує атрибуцію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без розмітки λ: 49/49 з апріорі, 41/49 без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Arial"/>
              </a:rPr>
              <a:t>РОЗДІЛ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F172A"/>
                </a:solidFill>
                <a:latin typeface="Arial"/>
              </a:rPr>
              <a:t>4 Методика валідації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Передбачення зриву плазми · ФМФ КПІ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5/22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3566160" cy="192024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715414"/>
            <a:ext cx="3163824" cy="15983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4F46E5"/>
                </a:solidFill>
                <a:latin typeface="Arial"/>
              </a:rPr>
              <a:t>Незалежні вибірки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генерація за сидами; навчання 4 500 розрядів, тест — 4 офіційні набори (747 розрядів)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1554480"/>
            <a:ext cx="3566160" cy="192024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1715414"/>
            <a:ext cx="3163824" cy="15983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59669"/>
                </a:solidFill>
                <a:latin typeface="Arial"/>
              </a:rPr>
              <a:t>Офіційний засіб оцінки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toksym score: правило заліку, спонтанні зриви й контакт зі стінкою виключено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3296" y="1554480"/>
            <a:ext cx="3566160" cy="192024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84464" y="1715414"/>
            <a:ext cx="3163824" cy="15983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Статистичне порівняння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парний бутстреп на тих самих розрядах; критерій P &gt; 0,9 визначено апріорі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703320"/>
            <a:ext cx="3566160" cy="192024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3864254"/>
            <a:ext cx="3163824" cy="15983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891B2"/>
                </a:solidFill>
                <a:latin typeface="Arial"/>
              </a:rPr>
              <a:t>Причинність ознак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лише минулі значення; один клас ознак у навчанні і на заліку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3703320"/>
            <a:ext cx="3566160" cy="192024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7136" y="3864254"/>
            <a:ext cx="3163824" cy="15983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D97706"/>
                </a:solidFill>
                <a:latin typeface="Arial"/>
              </a:rPr>
              <a:t>Відтворюваність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результати ноутбука і сервера збігаються (детермінований симулятор)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83296" y="3703320"/>
            <a:ext cx="3566160" cy="192024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84464" y="3864254"/>
            <a:ext cx="3163824" cy="15983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DC2626"/>
                </a:solidFill>
                <a:latin typeface="Arial"/>
              </a:rPr>
              <a:t>Без витоку даних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вилучено мітку сценарію та формули шпаргалки; мітки — лише як ціль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59669"/>
                </a:solidFill>
                <a:latin typeface="Arial"/>
              </a:rPr>
              <a:t>РОЗДІЛ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F172A"/>
                </a:solidFill>
                <a:latin typeface="Arial"/>
              </a:rPr>
              <a:t>5 Неінформативність порогу спрацювання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Передбачення зриву плазми · ФМФ КПІ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6/22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08760"/>
          <a:ext cx="6583680" cy="41148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920240"/>
                <a:gridCol w="914400"/>
                <a:gridCol w="914400"/>
                <a:gridCol w="914400"/>
                <a:gridCol w="914400"/>
                <a:gridCol w="10058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F46E5"/>
                          </a:solidFill>
                          <a:latin typeface="Arial"/>
                        </a:rPr>
                        <a:t>модель</a:t>
                      </a:r>
                    </a:p>
                  </a:txBody>
                  <a:tcPr marL="91440" marR="91440" marT="27432" marB="27432" anchor="ctr">
                    <a:solidFill>
                      <a:srgbClr val="EE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F46E5"/>
                          </a:solidFill>
                          <a:latin typeface="Arial"/>
                        </a:rPr>
                        <a:t>30 мс</a:t>
                      </a:r>
                    </a:p>
                  </a:txBody>
                  <a:tcPr marL="91440" marR="91440" marT="27432" marB="27432" anchor="ctr">
                    <a:solidFill>
                      <a:srgbClr val="EE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F46E5"/>
                          </a:solidFill>
                          <a:latin typeface="Arial"/>
                        </a:rPr>
                        <a:t>0,1 с</a:t>
                      </a:r>
                    </a:p>
                  </a:txBody>
                  <a:tcPr marL="91440" marR="91440" marT="27432" marB="27432" anchor="ctr">
                    <a:solidFill>
                      <a:srgbClr val="EE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F46E5"/>
                          </a:solidFill>
                          <a:latin typeface="Arial"/>
                        </a:rPr>
                        <a:t>0,3 с</a:t>
                      </a:r>
                    </a:p>
                  </a:txBody>
                  <a:tcPr marL="91440" marR="91440" marT="27432" marB="27432" anchor="ctr">
                    <a:solidFill>
                      <a:srgbClr val="EE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F46E5"/>
                          </a:solidFill>
                          <a:latin typeface="Arial"/>
                        </a:rPr>
                        <a:t>1 с</a:t>
                      </a:r>
                    </a:p>
                  </a:txBody>
                  <a:tcPr marL="91440" marR="91440" marT="27432" marB="27432" anchor="ctr">
                    <a:solidFill>
                      <a:srgbClr val="EE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F46E5"/>
                          </a:solidFill>
                          <a:latin typeface="Arial"/>
                        </a:rPr>
                        <a:t>об'єм</a:t>
                      </a:r>
                    </a:p>
                  </a:txBody>
                  <a:tcPr marL="91440" marR="91440" marT="27432" marB="27432" anchor="ctr">
                    <a:solidFill>
                      <a:srgbClr val="EEF2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бейзлайн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0,688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0,665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0,583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0,768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v6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0,993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0,925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0,916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0,857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0,938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v8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0,866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0,944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nocs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0,900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0,891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0,843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0,926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clean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0,897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0,884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0,795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clean_big (здача)</a:t>
                      </a:r>
                    </a:p>
                  </a:txBody>
                  <a:tcPr marL="91440" marR="91440" marT="27432" marB="27432" anchor="ctr">
                    <a:solidFill>
                      <a:srgbClr val="EE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EE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0,910</a:t>
                      </a:r>
                    </a:p>
                  </a:txBody>
                  <a:tcPr marL="91440" marR="91440" marT="27432" marB="27432" anchor="ctr">
                    <a:solidFill>
                      <a:srgbClr val="EE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0,899</a:t>
                      </a:r>
                    </a:p>
                  </a:txBody>
                  <a:tcPr marL="91440" marR="91440" marT="27432" marB="27432" anchor="ctr">
                    <a:solidFill>
                      <a:srgbClr val="EE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0,816</a:t>
                      </a:r>
                    </a:p>
                  </a:txBody>
                  <a:tcPr marL="91440" marR="91440" marT="27432" marB="27432" anchor="ctr">
                    <a:solidFill>
                      <a:srgbClr val="EE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0,924</a:t>
                      </a:r>
                    </a:p>
                  </a:txBody>
                  <a:tcPr marL="91440" marR="91440" marT="27432" marB="27432" anchor="ctr">
                    <a:solidFill>
                      <a:srgbClr val="EEFDF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clean_9k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0,904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0,824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ens5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0,918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0,906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0,831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0,931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669280"/>
            <a:ext cx="6583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Arial"/>
              </a:rPr>
              <a:t>ROC AUC на рівні розрядів за запасом · офіційні набори (бейзлайн — 2 набори)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52360" y="1508760"/>
            <a:ext cx="4206240" cy="1874519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53528" y="1669694"/>
            <a:ext cx="3803903" cy="1552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475569"/>
                </a:solidFill>
                <a:latin typeface="Arial"/>
              </a:rPr>
              <a:t>Поріг залежить від шкали p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XGBoost: 0,73–0,76 · наші моделі: 0,23–0,42 — при однаковому бюджеті 5 %; поріг підбирає засіб оцінки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452360" y="3611880"/>
          <a:ext cx="4206240" cy="175564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45920"/>
                <a:gridCol w="1097280"/>
                <a:gridCol w="1463040"/>
              </a:tblGrid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F46E5"/>
                          </a:solidFill>
                          <a:latin typeface="Arial"/>
                        </a:rPr>
                        <a:t>дозволено хибних</a:t>
                      </a:r>
                    </a:p>
                  </a:txBody>
                  <a:tcPr marL="91440" marR="91440" marT="27432" marB="27432" anchor="ctr">
                    <a:solidFill>
                      <a:srgbClr val="EE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F46E5"/>
                          </a:solidFill>
                          <a:latin typeface="Arial"/>
                        </a:rPr>
                        <a:t>поріг</a:t>
                      </a:r>
                    </a:p>
                  </a:txBody>
                  <a:tcPr marL="91440" marR="91440" marT="27432" marB="27432" anchor="ctr">
                    <a:solidFill>
                      <a:srgbClr val="EE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F46E5"/>
                          </a:solidFill>
                          <a:latin typeface="Arial"/>
                        </a:rPr>
                        <a:t>вчасно 0,1 с</a:t>
                      </a:r>
                    </a:p>
                  </a:txBody>
                  <a:tcPr marL="91440" marR="91440" marT="27432" marB="27432" anchor="ctr">
                    <a:solidFill>
                      <a:srgbClr val="EEF2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1 (2,9 %)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0,398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25 %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2 (5,7 %)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0,333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67 %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3 (8,6 %)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0,288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75 %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452360" y="5440680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Arial"/>
              </a:rPr>
              <a:t>Симулятор fusion-sim, 50 розрядів (35 тихих), та сама модель v8: ROC AUC 0,885 (0,1 с), 0,983 (30 мс)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Arial"/>
              </a:rPr>
              <a:t>РОЗДІЛ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F172A"/>
                </a:solidFill>
                <a:latin typeface="Arial"/>
              </a:rPr>
              <a:t>6 Еволюція моделей і вибір фінального рішення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Передбачення зриву плазми · ФМФ КПІ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7/22</a:t>
            </a:r>
          </a:p>
        </p:txBody>
      </p:sp>
      <p:pic>
        <p:nvPicPr>
          <p:cNvPr id="6" name="Picture 5" descr="evol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7680960" cy="337496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549640" y="1463040"/>
            <a:ext cx="3108960" cy="1298448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50808" y="1623974"/>
            <a:ext cx="2706624" cy="9765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F46E5"/>
                </a:solidFill>
                <a:latin typeface="Arial"/>
              </a:rPr>
              <a:t>Фізичні ознаки + сценарій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v6 / v8: 0,937–0,944; використовують формули шпаргалки й мітку сценарію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49640" y="2926080"/>
            <a:ext cx="3108960" cy="1298448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50808" y="3087014"/>
            <a:ext cx="2706624" cy="9765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59669"/>
                </a:solidFill>
                <a:latin typeface="Arial"/>
              </a:rPr>
              <a:t>Без формул і без сценарію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clean: 0,914 → 4 500 розрядів: 0,924 (парний бутстреп, P = 0,97)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49640" y="4389120"/>
            <a:ext cx="3108960" cy="1298448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50808" y="4550054"/>
            <a:ext cx="2706624" cy="9765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C2626"/>
                </a:solidFill>
                <a:latin typeface="Arial"/>
              </a:rPr>
              <a:t>Відхилено: ансамбль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0,930, але 3 мс/крок і 16 % кроків &gt; 5 мс на ноутбуці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893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Arial"/>
              </a:rPr>
              <a:t>Об'єм офіційного заліку на тих самих 4 наборах (747 розрядів)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97706"/>
                </a:solidFill>
                <a:latin typeface="Arial"/>
              </a:rPr>
              <a:t>РОЗДІЛ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F172A"/>
                </a:solidFill>
                <a:latin typeface="Arial"/>
              </a:rPr>
              <a:t>7 Порівняльний аналіз моделей на спільній вибірці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Передбачення зриву плазми · ФМФ КПІ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8/22</a:t>
            </a:r>
          </a:p>
        </p:txBody>
      </p:sp>
      <p:pic>
        <p:nvPicPr>
          <p:cNvPr id="6" name="Picture 5" descr="ui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7863840" cy="3652603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686800" y="1508760"/>
          <a:ext cx="2971800" cy="212140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25880"/>
                <a:gridCol w="822960"/>
                <a:gridCol w="822960"/>
              </a:tblGrid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F46E5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EE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F46E5"/>
                          </a:solidFill>
                          <a:latin typeface="Arial"/>
                        </a:rPr>
                        <a:t>XGBoost</a:t>
                      </a:r>
                    </a:p>
                  </a:txBody>
                  <a:tcPr marL="91440" marR="91440" marT="27432" marB="27432" anchor="ctr">
                    <a:solidFill>
                      <a:srgbClr val="EE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F46E5"/>
                          </a:solidFill>
                          <a:latin typeface="Arial"/>
                        </a:rPr>
                        <a:t>наші</a:t>
                      </a:r>
                    </a:p>
                  </a:txBody>
                  <a:tcPr marL="91440" marR="91440" marT="27432" marB="27432" anchor="ctr">
                    <a:solidFill>
                      <a:srgbClr val="EEF2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вчасно, 0,1 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25–35 %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57–67 %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пропущено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5–9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0–1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медіана випередження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0,67–0,90 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0,94–1,42 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686800" y="3840480"/>
            <a:ext cx="2971800" cy="192024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87968" y="4001414"/>
            <a:ext cx="2569464" cy="15983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06"/>
                </a:solidFill>
                <a:latin typeface="Arial"/>
              </a:rPr>
              <a:t>Висновок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визначальна — динаміка сигналу (тренди, передвісник), а не статичні фізичні проксі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9893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Arial"/>
              </a:rPr>
              <a:t>Інтерфейс заліку: 200 розрядів, 75 зривів (12 спонтанних виключено) · запас 0,1 с · бюджет 5 % · картки моделей — Додаток 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59669"/>
                </a:solidFill>
                <a:latin typeface="Arial"/>
              </a:rPr>
              <a:t>РОЗДІЛ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F172A"/>
                </a:solidFill>
                <a:latin typeface="Arial"/>
              </a:rPr>
              <a:t>8 Архітектура моделі раннього попередження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Передбачення зриву плазми · ФМФ КПІ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9/22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19659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286000"/>
            <a:ext cx="1746504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0891B2"/>
                </a:solidFill>
                <a:latin typeface="Arial"/>
              </a:rPr>
              <a:t>100 діагностик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крок 5 мс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35808" y="2194560"/>
            <a:ext cx="19659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45536" y="2286000"/>
            <a:ext cx="1746504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Причинні ознаки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EMA 50 мс / 250 мс / 1 с,
тренди, передвісник,
актуатори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60320" y="3063240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5047488" y="3063240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0" y="1691640"/>
            <a:ext cx="22860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0" y="1764792"/>
            <a:ext cx="210312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059669"/>
                </a:solidFill>
                <a:latin typeface="Arial"/>
              </a:rPr>
              <a:t>Голова A (HGB)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P(гасіння ≤ 0,1 с)
передвісник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0" y="3520440"/>
            <a:ext cx="22860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3593592"/>
            <a:ext cx="210312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059669"/>
                </a:solidFill>
                <a:latin typeface="Arial"/>
              </a:rPr>
              <a:t>Голова B (HGB)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P(гасіння ≤ 4,5 с)
рання тривога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909560" y="3063240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80" y="2194560"/>
            <a:ext cx="3246120" cy="201168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905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49640" y="2286000"/>
            <a:ext cx="297180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EA580C"/>
                </a:solidFill>
                <a:latin typeface="Arial"/>
              </a:rPr>
              <a:t>p = max(A, 0,3·B)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0 на запрограмованому спаді струму
→ згладжування → біжучий максимум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120640"/>
            <a:ext cx="265176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120640"/>
            <a:ext cx="26517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0891B2"/>
                </a:solidFill>
                <a:latin typeface="Arial"/>
              </a:rPr>
              <a:t>numpy · 0,9 мс на крок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64992" y="5120640"/>
            <a:ext cx="265176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64992" y="5120640"/>
            <a:ext cx="26517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4 500 розрядів, поділ за сидами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81344" y="5120640"/>
            <a:ext cx="265176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81344" y="5120640"/>
            <a:ext cx="26517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EA580C"/>
                </a:solidFill>
                <a:latin typeface="Arial"/>
              </a:rPr>
              <a:t>без формул шпаргалки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97696" y="5120640"/>
            <a:ext cx="265176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7696" y="5120640"/>
            <a:ext cx="26517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EA580C"/>
                </a:solidFill>
                <a:latin typeface="Arial"/>
              </a:rPr>
              <a:t>без мітки сценарію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59669"/>
                </a:solidFill>
                <a:latin typeface="Arial"/>
              </a:rPr>
              <a:t>РОЗДІЛ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F172A"/>
                </a:solidFill>
                <a:latin typeface="Arial"/>
              </a:rPr>
              <a:t>9 Приклад роботи моделей на розряді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Передбачення зриву плазми · ФМФ КПІ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10/22</a:t>
            </a:r>
          </a:p>
        </p:txBody>
      </p:sp>
      <p:pic>
        <p:nvPicPr>
          <p:cNvPr id="6" name="Picture 5" descr="shot_tr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8138160" cy="406355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006840" y="1463040"/>
            <a:ext cx="2651760" cy="132588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8008" y="1623974"/>
            <a:ext cx="2249424" cy="1004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059669"/>
                </a:solidFill>
                <a:latin typeface="Arial"/>
              </a:rPr>
              <a:t>1,24 с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випередження тривоги
(поріг під FPR 5 %)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06840" y="2944368"/>
            <a:ext cx="2651760" cy="132588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08008" y="3105302"/>
            <a:ext cx="2249424" cy="1004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EA580C"/>
                </a:solidFill>
                <a:latin typeface="Arial"/>
              </a:rPr>
              <a:t>f_GW → 1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98–100 % внеску —
межа Грінвальда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06840" y="4425696"/>
            <a:ext cx="2651760" cy="132588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08008" y="4586630"/>
            <a:ext cx="2249424" cy="1004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7C3AED"/>
                </a:solidFill>
                <a:latin typeface="Arial"/>
              </a:rPr>
              <a:t>0,90 = 0,90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λ мережі = істинна λ
у момент зриву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893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Arial"/>
              </a:rPr>
              <a:t>Розряд 5 тестового набору (сценарій density) · модель тривоги clean_big · ImpactNet · істинна λ — зі стану плазми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97706"/>
                </a:solidFill>
                <a:latin typeface="Arial"/>
              </a:rPr>
              <a:t>РОЗДІЛ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F172A"/>
                </a:solidFill>
                <a:latin typeface="Arial"/>
              </a:rPr>
              <a:t>10 Фізична модель зриву: операційні межі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Передбачення зриву плазми · ФМФ КПІ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11/22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11109960" cy="6858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623974"/>
            <a:ext cx="10707624" cy="363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D97706"/>
                </a:solidFill>
                <a:latin typeface="Arial"/>
              </a:rPr>
              <a:t>λ = 1 − Π(1 − rᵢ³)·(1 − r_lm),   </a:t>
            </a:r>
            <a:r>
              <a:rPr sz="1400" b="0">
                <a:solidFill>
                  <a:srgbClr val="475569"/>
                </a:solidFill>
                <a:latin typeface="Arial"/>
              </a:rPr>
              <a:t>rᵢ = σ((xᵢ − cᵢ)/wᵢ); P(зрив за h) = 1 − exp(−∫λ dt)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377440"/>
          <a:ext cx="11109960" cy="27432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11680"/>
                <a:gridCol w="1828800"/>
                <a:gridCol w="1371600"/>
                <a:gridCol w="3246120"/>
                <a:gridCol w="265176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F46E5"/>
                          </a:solidFill>
                          <a:latin typeface="Arial"/>
                        </a:rPr>
                        <a:t>механізм</a:t>
                      </a:r>
                    </a:p>
                  </a:txBody>
                  <a:tcPr marL="91440" marR="91440" marT="27432" marB="27432" anchor="ctr">
                    <a:solidFill>
                      <a:srgbClr val="EE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F46E5"/>
                          </a:solidFill>
                          <a:latin typeface="Arial"/>
                        </a:rPr>
                        <a:t>параметр</a:t>
                      </a:r>
                    </a:p>
                  </a:txBody>
                  <a:tcPr marL="91440" marR="91440" marT="27432" marB="27432" anchor="ctr">
                    <a:solidFill>
                      <a:srgbClr val="EE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F46E5"/>
                          </a:solidFill>
                          <a:latin typeface="Arial"/>
                        </a:rPr>
                        <a:t>межа</a:t>
                      </a:r>
                    </a:p>
                  </a:txBody>
                  <a:tcPr marL="91440" marR="91440" marT="27432" marB="27432" anchor="ctr">
                    <a:solidFill>
                      <a:srgbClr val="EE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F46E5"/>
                          </a:solidFill>
                          <a:latin typeface="Arial"/>
                        </a:rPr>
                        <a:t>керувальний вплив</a:t>
                      </a:r>
                    </a:p>
                  </a:txBody>
                  <a:tcPr marL="91440" marR="91440" marT="27432" marB="27432" anchor="ctr">
                    <a:solidFill>
                      <a:srgbClr val="EE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F46E5"/>
                          </a:solidFill>
                          <a:latin typeface="Arial"/>
                        </a:rPr>
                        <a:t>побічний ефект</a:t>
                      </a:r>
                    </a:p>
                  </a:txBody>
                  <a:tcPr marL="91440" marR="91440" marT="27432" marB="27432" anchor="ctr">
                    <a:solidFill>
                      <a:srgbClr val="EEF2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Межа Грінвальда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f_GW = n̄ₑ / n_GW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f_GW ≈ 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уставка густини, ↓ D₂; ↑ Iₚ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↑ Iₚ знижує q95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Кінк-нестійкість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q95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q95 ≈ 2,44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Iₚ; ↑ Bₜ, κ, δ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Iₚ підвищує f_GW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Радіаційний колапс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P_rad / P_in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≈ 0,8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неон → 0; ↑ нагрів; ↓ густина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нагрів підвищує βN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Межа Тройона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βN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βN ≈ 2,4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нагрів; ↑ Iₚ, Bₜ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погіршення утримання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34924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D97706"/>
                </a:solidFill>
                <a:latin typeface="Arial"/>
              </a:rPr>
              <a:t>Зв'язаність впливів: </a:t>
            </a:r>
            <a:r>
              <a:rPr sz="1400" b="0">
                <a:solidFill>
                  <a:srgbClr val="475569"/>
                </a:solidFill>
                <a:latin typeface="Arial"/>
              </a:rPr>
              <a:t>Iₚ діє протилежно на межу Грінвальда і кінк · густина релаксує за ~0,3 с · неон накопичується за ~0,5 с — керування має випереджати тривогу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РОЗДІЛ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F172A"/>
                </a:solidFill>
                <a:latin typeface="Arial"/>
              </a:rPr>
              <a:t>11 Нейромережа ImpactNet: атрибуція механізмів зриву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Передбачення зриву плазми · ФМФ КПІ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12/22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155448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64592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0891B2"/>
                </a:solidFill>
                <a:latin typeface="Arial"/>
              </a:rPr>
              <a:t>218 входів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Arial"/>
              </a:rPr>
              <a:t>100 діагностик
+ маски відмов
+ 18 фіз. величин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130552" y="2331720"/>
            <a:ext cx="219456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377440" y="1600200"/>
            <a:ext cx="155448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50592" y="164592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4F46E5"/>
                </a:solidFill>
                <a:latin typeface="Arial"/>
              </a:rPr>
              <a:t>Згортки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Arial"/>
              </a:rPr>
              <a:t>причинні,
вікно 155 мс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959352" y="2331720"/>
            <a:ext cx="219456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06240" y="1600200"/>
            <a:ext cx="155448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9392" y="164592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GRU (128)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Arial"/>
              </a:rPr>
              <a:t>пам'ять
розряду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788152" y="2331720"/>
            <a:ext cx="219456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35040" y="1600200"/>
            <a:ext cx="155448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08192" y="164592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EA580C"/>
                </a:solidFill>
                <a:latin typeface="Arial"/>
              </a:rPr>
              <a:t>5 нейронів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Arial"/>
              </a:rPr>
              <a:t>+ фізичне
апріорі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611880"/>
            <a:ext cx="1325880" cy="411480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611880"/>
            <a:ext cx="13258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Грінвальд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984248" y="3611880"/>
            <a:ext cx="1325880" cy="41148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84248" y="3611880"/>
            <a:ext cx="13258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кінк (q95)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19856" y="3611880"/>
            <a:ext cx="1325880" cy="41148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9856" y="3611880"/>
            <a:ext cx="13258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радіація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55464" y="3611880"/>
            <a:ext cx="1325880" cy="411480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55464" y="3611880"/>
            <a:ext cx="13258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Тройон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91072" y="3611880"/>
            <a:ext cx="1325880" cy="411480"/>
          </a:xfrm>
          <a:prstGeom prst="roundRect">
            <a:avLst>
              <a:gd name="adj" fmla="val 5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91072" y="3611880"/>
            <a:ext cx="13258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інші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251960"/>
            <a:ext cx="7040880" cy="16002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4412894"/>
            <a:ext cx="6638544" cy="12783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Arial"/>
              </a:rPr>
              <a:t>частка = 100·Cₖ / ΣC,  Cₖ = −ln(1 − rₖᵖ)  →  Σ = 100 %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Arial"/>
              </a:rPr>
              <a:t>λ = 1 − e^(−ΣC) — тотожна формулі симулятора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0F172A"/>
                </a:solidFill>
                <a:latin typeface="Arial"/>
              </a:rPr>
              <a:t>P(зрив за h) = 1 − e^(−λh)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01000" y="1600200"/>
            <a:ext cx="3657600" cy="128016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02168" y="1761134"/>
            <a:ext cx="3255264" cy="958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7C3AED"/>
                </a:solidFill>
                <a:latin typeface="Arial"/>
              </a:rPr>
              <a:t>49 / 49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механізм у момент зриву
(20 Грінвальд, 15 кінк, 14 радіація)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01000" y="3035808"/>
            <a:ext cx="3657600" cy="128016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02168" y="3196742"/>
            <a:ext cx="3255264" cy="958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059669"/>
                </a:solidFill>
                <a:latin typeface="Arial"/>
              </a:rPr>
              <a:t>0,996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R² інтенсивності зриву λ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01000" y="4471416"/>
            <a:ext cx="3657600" cy="128016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02168" y="4632350"/>
            <a:ext cx="3255264" cy="958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0891B2"/>
                </a:solidFill>
                <a:latin typeface="Arial"/>
              </a:rPr>
              <a:t>0,6 мс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крок інференсу, numpy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9893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Arial"/>
              </a:rPr>
              <a:t>200 тестових розрядів · порівняння архітектур: GRU ≈ LSTM ≈ TCN &gt; без пам'яті; обрано GRU (O(1) стан у потоці)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РОЗДІЛ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F172A"/>
                </a:solidFill>
                <a:latin typeface="Arial"/>
              </a:rPr>
              <a:t>12 Інтенсивність зриву як сигнал тривоги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Передбачення зриву плазми · ФМФ КПІ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13/22</a:t>
            </a:r>
          </a:p>
        </p:txBody>
      </p:sp>
      <p:pic>
        <p:nvPicPr>
          <p:cNvPr id="6" name="Picture 5" descr="ora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5394960" cy="401682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355080" y="1463040"/>
            <a:ext cx="5303520" cy="141732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6248" y="1623974"/>
            <a:ext cx="4901183" cy="10954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Розподіл функцій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модель тривоги — момент зриву (передвісник після запуску)
ImpactNet — механізм зриву (розклад λ)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355080" y="3108960"/>
          <a:ext cx="5303520" cy="212140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17520"/>
                <a:gridCol w="1188720"/>
                <a:gridCol w="1097280"/>
              </a:tblGrid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F46E5"/>
                          </a:solidFill>
                          <a:latin typeface="Arial"/>
                        </a:rPr>
                        <a:t>навчання ImpactNet</a:t>
                      </a:r>
                    </a:p>
                  </a:txBody>
                  <a:tcPr marL="91440" marR="91440" marT="27432" marB="27432" anchor="ctr">
                    <a:solidFill>
                      <a:srgbClr val="EE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F46E5"/>
                          </a:solidFill>
                          <a:latin typeface="Arial"/>
                        </a:rPr>
                        <a:t>механізм
визначено</a:t>
                      </a:r>
                    </a:p>
                  </a:txBody>
                  <a:tcPr marL="91440" marR="91440" marT="27432" marB="27432" anchor="ctr">
                    <a:solidFill>
                      <a:srgbClr val="EE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F46E5"/>
                          </a:solidFill>
                          <a:latin typeface="Arial"/>
                        </a:rPr>
                        <a:t>R² λ</a:t>
                      </a:r>
                    </a:p>
                  </a:txBody>
                  <a:tcPr marL="91440" marR="91440" marT="27432" marB="27432" anchor="ctr">
                    <a:solidFill>
                      <a:srgbClr val="EEF2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з мітками λ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49 / 49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лише моменти зривів + апріорі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49 / 49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0,948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без фізичного апріорі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41 / 49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0,660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55080" y="5349240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Arial"/>
              </a:rPr>
              <a:t>Пуассонівська правдоподібність Σ log λ(t_зриву) − ∫λ dt: λ не потрібна як мітка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98932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Arial"/>
              </a:rPr>
              <a:t>Об'єм як сигнал тривоги, ті самі 200 тестових розрядів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A580C"/>
                </a:solidFill>
                <a:latin typeface="Arial"/>
              </a:rPr>
              <a:t>РОЗДІЛ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F172A"/>
                </a:solidFill>
                <a:latin typeface="Arial"/>
              </a:rPr>
              <a:t>13 Замкнений контур керування в симуляторі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Передбачення зриву плазми · ФМФ КПІ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14/22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3" y="1426464"/>
            <a:ext cx="5925312" cy="2966477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ard_sim_impa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5852160" cy="28933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429517"/>
            <a:ext cx="5852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Arial"/>
              </a:rPr>
              <a:t>fusion-sim (безшумні канали), 50 розрядів: механізм визначено в 10 / 12 зривах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20840" y="1463040"/>
            <a:ext cx="4937760" cy="224028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95159" y="1682496"/>
            <a:ext cx="4389120" cy="1801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5800" b="1">
                <a:solidFill>
                  <a:srgbClr val="EA580C"/>
                </a:solidFill>
                <a:latin typeface="Arial"/>
              </a:rPr>
              <a:t>11 → 5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  <a:latin typeface="Arial"/>
              </a:rPr>
              <a:t>зривів на 40 розрядах (−55 %)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ті самі розряди без керування і з ним · v8 · поріг 0,25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3931920"/>
            <a:ext cx="4937760" cy="192024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22007" y="4092854"/>
            <a:ext cx="4535424" cy="15983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06"/>
                </a:solidFill>
                <a:latin typeface="Arial"/>
              </a:rPr>
              <a:t>Обмеження і наступні кроки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40 розрядів, канали без шуму · кінк недооцінено (0/2): уточнити калібрування q95 · далі — 200 розрядів і ціна керування (струм, енергія)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59669"/>
                </a:solidFill>
                <a:latin typeface="Arial"/>
              </a:rPr>
              <a:t>РОЗДІЛ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F172A"/>
                </a:solidFill>
                <a:latin typeface="Arial"/>
              </a:rPr>
              <a:t>14 Висновки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Передбачення зриву плазми · ФМФ КПІ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15/22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560320" cy="20574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669694"/>
            <a:ext cx="2157984" cy="17355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59669"/>
                </a:solidFill>
                <a:latin typeface="Arial"/>
              </a:rPr>
              <a:t>0,924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Arial"/>
              </a:rPr>
              <a:t>Момент зриву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об'єм 0,924 (базове 0,765); ROC AUC 0,998 на 30 мс; без формул і підказок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1508760"/>
            <a:ext cx="2560320" cy="20574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93008" y="1669694"/>
            <a:ext cx="2157984" cy="17355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7C3AED"/>
                </a:solidFill>
                <a:latin typeface="Arial"/>
              </a:rPr>
              <a:t>49 / 49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Arial"/>
              </a:rPr>
              <a:t>Механізм зриву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ImpactNet: розклад λ на 5 механізмів; працює і без розмітки 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508760"/>
            <a:ext cx="2560320" cy="20574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36207" y="1669694"/>
            <a:ext cx="2157984" cy="17355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EA580C"/>
                </a:solidFill>
                <a:latin typeface="Arial"/>
              </a:rPr>
              <a:t>11 → 5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Arial"/>
              </a:rPr>
              <a:t>Керування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порадник і автокерування в замкненому контурі симулятора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794760"/>
            <a:ext cx="8046720" cy="132588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3955694"/>
            <a:ext cx="7644384" cy="1004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D97706"/>
                </a:solidFill>
                <a:latin typeface="Arial"/>
              </a:rPr>
              <a:t>Подальші дослідження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контур на 200+ розрядах з шумом діагностик · оцінка ціни керування · калібрування q95 для fusion-sim · навчання ImpactNet за моментами зривів на експериментальних даних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15400" y="1508760"/>
            <a:ext cx="2743200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repo_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645920"/>
            <a:ext cx="2468880" cy="24688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503920" y="4389120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0F172A"/>
                </a:solidFill>
                <a:latin typeface="Arial"/>
              </a:rPr>
              <a:t>Код, моделі, звіти заліку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4F46E5"/>
                </a:solidFill>
                <a:latin typeface="Arial"/>
              </a:rPr>
              <a:t>github.com/llllenah/plasma-disruption-prediction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34924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059669"/>
                </a:solidFill>
                <a:latin typeface="Arial"/>
              </a:rPr>
              <a:t>Дякуємо за увагу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Arial"/>
              </a:rPr>
              <a:t>ДОДАТОК А · А.1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F172A"/>
                </a:solidFill>
                <a:latin typeface="Arial"/>
              </a:rPr>
              <a:t>А.1 XGBoost: сирі, фізичні та динамічні ознаки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Передбачення зриву плазми · ФМФ КПІ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16/22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3" y="1472184"/>
            <a:ext cx="6382512" cy="1117509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ard_xgb_phy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08760"/>
            <a:ext cx="6309360" cy="104435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2589693"/>
            <a:ext cx="6309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Arial"/>
              </a:rPr>
              <a:t>Physics · 0,1 с: 25,4 %, пропущено 6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3" y="2973741"/>
            <a:ext cx="6382512" cy="1117509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ard_xgb_dy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010317"/>
            <a:ext cx="6309360" cy="104435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4091251"/>
            <a:ext cx="6309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Arial"/>
              </a:rPr>
              <a:t>Dynamics · 0,1 с: 34,9 %, пропущено 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3" y="4475299"/>
            <a:ext cx="6382512" cy="1117509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ard_xgb_formul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511875"/>
            <a:ext cx="6309360" cy="104435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5592808"/>
            <a:ext cx="6309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Arial"/>
              </a:rPr>
              <a:t>Formula · 0,1 с: 25,4 %, пропущено 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1508760"/>
            <a:ext cx="4343400" cy="301752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16368" y="1669694"/>
            <a:ext cx="3941063" cy="2695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475569"/>
                </a:solidFill>
                <a:latin typeface="Arial"/>
              </a:rPr>
              <a:t>Тип ознак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Arial"/>
              </a:rPr>
              <a:t>градієнтний бустинг на кожному кроці (без пам'яті); варіанти Діми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Raw — 101 сирий канал; Physics — +25 агрегатів (потужність нагріву, хорди, RMS Мірнова, Dα, ECE, болометри)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Dynamics — +119 часових ознак: лаги 5–100 мс, різниці, швидкості, ковзні статистики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Formula — +5 проксі формул шпаргалки (лише для порівняння)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315200" y="4709160"/>
          <a:ext cx="4343400" cy="98755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8288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F46E5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EE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F46E5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EEF2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валідаційна ROC AUC (рядкова)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0,94–0,96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поріг (інтерфейс)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0,73–0,76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Arial"/>
              </a:rPr>
              <a:t>ДОДАТОК А · А.2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F172A"/>
                </a:solidFill>
                <a:latin typeface="Arial"/>
              </a:rPr>
              <a:t>А.2 v6 / v6b: двоголовий бустинг з фізичними ознаками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Передбачення зриву плазми · ФМФ КПІ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17/22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3" y="1472184"/>
            <a:ext cx="6565392" cy="890738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ard_v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08760"/>
            <a:ext cx="6492240" cy="81758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2362922"/>
            <a:ext cx="6492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Arial"/>
              </a:rPr>
              <a:t>v6 · інтерфейс, 0,1 с: 63,5 %, пропущено 0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3" y="2746970"/>
            <a:ext cx="6565392" cy="884681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ard_v6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783546"/>
            <a:ext cx="6492240" cy="81153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3631652"/>
            <a:ext cx="6492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Arial"/>
              </a:rPr>
              <a:t>v6b · інтерфейс, 0,1 с: 57,1 %, пропущено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0" y="1508760"/>
            <a:ext cx="4343400" cy="301752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16368" y="1669694"/>
            <a:ext cx="3941063" cy="2695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4F46E5"/>
                </a:solidFill>
                <a:latin typeface="Arial"/>
              </a:rPr>
              <a:t>Тип ознак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Arial"/>
              </a:rPr>
              <a:t>сирі канали + формули шпаргалки (f_GW, q95, βN, P_rad/P_in) + мітка сценарію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Дві голови HGB: передвісник (≤ 0,1 с) і рання тривога (≤ 4,5 с)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v6b — варіант із іншим налаштуванням голови раннього попередження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315200" y="4709160"/>
          <a:ext cx="4343400" cy="16459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8288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F46E5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EE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F46E5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EEF2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 30 мс*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 0,1 с*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0,925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об'єм*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об'єм v6b*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0,935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48640" y="6126480"/>
            <a:ext cx="6583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Arial"/>
              </a:rPr>
              <a:t>* ROC AUC і об'єм — офіційні набори toksym (747 розрядів); скриншот — спільна вибірка інтерфейсу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Arial"/>
              </a:rPr>
              <a:t>ДОДАТОК А · А.3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F172A"/>
                </a:solidFill>
                <a:latin typeface="Arial"/>
              </a:rPr>
              <a:t>А.3 v8: фізичні ознаки + детектор передвісника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Передбачення зриву плазми · ФМФ КПІ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18/22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3" y="1472184"/>
            <a:ext cx="6108192" cy="147393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ard_v8_pho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08760"/>
            <a:ext cx="6035040" cy="140078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2946118"/>
            <a:ext cx="6035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Arial"/>
              </a:rPr>
              <a:t>v8 · інтерфейс організаторів (фото екрана), 0,1 с: 66,7 %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3" y="3330166"/>
            <a:ext cx="6108192" cy="1654012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ui_v8_new_eng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366742"/>
            <a:ext cx="6035040" cy="15808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4984179"/>
            <a:ext cx="6035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Arial"/>
              </a:rPr>
              <a:t>v8 · fusion-sim, 200 розрядів, 0,1 с: 51,0 %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0" y="1508760"/>
            <a:ext cx="4343400" cy="301752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16368" y="1669694"/>
            <a:ext cx="3941063" cy="2695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4F46E5"/>
                </a:solidFill>
                <a:latin typeface="Arial"/>
              </a:rPr>
              <a:t>Тип ознак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Arial"/>
              </a:rPr>
              <a:t>v6 + енергія швидкої складової сідлової петлі й Мірнова + оцінка λ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Найвищий об'єм серед усіх моделей (0,944), але використовує формули шпаргалки та мітку сценарію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На безшумному рушії fusion-sim (200 розрядів): 51 % на 0,1 с, пропущено 0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315200" y="4709160"/>
          <a:ext cx="4343400" cy="131673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8288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F46E5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EE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F46E5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EEF2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 30 мс*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 0,1 с*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0,934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об'єм*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0,944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48640" y="6126480"/>
            <a:ext cx="6583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Arial"/>
              </a:rPr>
              <a:t>* ROC AUC і об'єм — офіційні набори toksym (747 розрядів); скриншот — спільна вибірка інтерфейсу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97706"/>
                </a:solidFill>
                <a:latin typeface="Arial"/>
              </a:rPr>
              <a:t>ДОДАТОК А · А.4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F172A"/>
                </a:solidFill>
                <a:latin typeface="Arial"/>
              </a:rPr>
              <a:t>А.4 nocs: без формул шпаргалки, з міткою сценарію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Передбачення зриву плазми · ФМФ КПІ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19/22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3" y="1472184"/>
            <a:ext cx="6108192" cy="1909903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ard_nocs_pho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08760"/>
            <a:ext cx="6035040" cy="18367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3382087"/>
            <a:ext cx="6035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Arial"/>
              </a:rPr>
              <a:t>nocs · інтерфейс (фото екрана), 0,1 с: 65,1 %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1508760"/>
            <a:ext cx="4343400" cy="301752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16368" y="1669694"/>
            <a:ext cx="3941063" cy="2695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D97706"/>
                </a:solidFill>
                <a:latin typeface="Arial"/>
              </a:rPr>
              <a:t>Тип ознак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Arial"/>
              </a:rPr>
              <a:t>згладжені сирі канали, уставки, передвісник + мітка сценарію і таймери програми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Вилучено всі формули шпаргалки; залишено мітку сценарію з метаданих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Мітка scen_none гарантує відсутність зарахованого зриву — артефакт симулятора; тому модель не обрано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0" y="4709160"/>
          <a:ext cx="4343400" cy="131673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8288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F46E5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EE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F46E5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EEF2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 30 мс*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 0,1 с*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0,900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об'єм*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6126480"/>
            <a:ext cx="6583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Arial"/>
              </a:rPr>
              <a:t>* ROC AUC і об'єм — офіційні набори toksym (747 розрядів); скриншот — спільна вибірка інтерфейсу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59669"/>
                </a:solidFill>
                <a:latin typeface="Arial"/>
              </a:rPr>
              <a:t>ДОДАТОК А · А.5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F172A"/>
                </a:solidFill>
                <a:latin typeface="Arial"/>
              </a:rPr>
              <a:t>А.5 clean_big: фінальне рішення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Передбачення зриву плазми · ФМФ КПІ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20/22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3" y="1472184"/>
            <a:ext cx="6565392" cy="917381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ui_clean_big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08760"/>
            <a:ext cx="6492240" cy="84422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2389565"/>
            <a:ext cx="6492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Arial"/>
              </a:rPr>
              <a:t>clean_big · інтерфейс, 0,1 с: 63,5 %, пропущено 0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3" y="2773613"/>
            <a:ext cx="6565392" cy="917381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ui_clean_big_00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810189"/>
            <a:ext cx="6492240" cy="84422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3690994"/>
            <a:ext cx="6492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Arial"/>
              </a:rPr>
              <a:t>clean_big · інтерфейс, 30 мс: 96,8 %, пропущено 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0" y="1508760"/>
            <a:ext cx="4343400" cy="301752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16368" y="1669694"/>
            <a:ext cx="3941063" cy="2695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59669"/>
                </a:solidFill>
                <a:latin typeface="Arial"/>
              </a:rPr>
              <a:t>Тип ознак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Arial"/>
              </a:rPr>
              <a:t>згладжені сирі канали, уставки й команди актуаторів, Dα, Мірнов, SXR, ECE, передвісник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Без формул шпаргалки, без мітки сценарію і таймерів; 4 500 навчальних розрядів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Крок 0,9 мс на ноутбуці; 0,2 % кроків &gt; 5 мс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315200" y="4709160"/>
          <a:ext cx="4343400" cy="131673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8288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F46E5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EE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F46E5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EEF2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 30 мс*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 0,1 с*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0,910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об'єм*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48640" y="6126480"/>
            <a:ext cx="6583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Arial"/>
              </a:rPr>
              <a:t>* ROC AUC і об'єм — офіційні набори toksym (747 розрядів); скриншот — спільна вибірка інтерфейсу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ДОДАТОК А · А.6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F172A"/>
                </a:solidFill>
                <a:latin typeface="Arial"/>
              </a:rPr>
              <a:t>А.6 Ансамбль ens5: відхилено за вимогою реального часу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Передбачення зриву плазми · ФМФ КПІ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21/22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3" y="1472184"/>
            <a:ext cx="6565392" cy="917381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ard_ens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08760"/>
            <a:ext cx="6492240" cy="84422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2389565"/>
            <a:ext cx="6492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Arial"/>
              </a:rPr>
              <a:t>ens5 · інтерфейс, 0,1 с: 60,3 %, пропущено 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1508760"/>
            <a:ext cx="4343400" cy="301752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16368" y="1669694"/>
            <a:ext cx="3941063" cy="2695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DC2626"/>
                </a:solidFill>
                <a:latin typeface="Arial"/>
              </a:rPr>
              <a:t>Тип ознак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Arial"/>
              </a:rPr>
              <a:t>5 моделей clean на бутстреп-вибірках 9 000 розрядів, усереднення логітів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Об'єм 0,930 (+0,006, P = 0,99), але крок 3 мс і 16 % кроків &gt; 5 мс на ноутбуці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Вимогу реального часу порушено — до здачі не прийнято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0" y="4709160"/>
          <a:ext cx="4343400" cy="131673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8288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F46E5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EE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F46E5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EEF2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 30 мс*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 0,1 с*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0,918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об'єм*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6126480"/>
            <a:ext cx="6583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Arial"/>
              </a:rPr>
              <a:t>* ROC AUC і об'єм — офіційні набори toksym (747 розрядів); скриншот — спільна вибірка інтерфейсу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ДОДАТОК А · А.7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F172A"/>
                </a:solidFill>
                <a:latin typeface="Arial"/>
              </a:rPr>
              <a:t>А.7 ImpactNet у симуляторі fusion-sim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Передбачення зриву плазми · ФМФ КПІ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22/22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3" y="1472184"/>
            <a:ext cx="6565392" cy="328293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ard_sim_impa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08760"/>
            <a:ext cx="6492240" cy="320978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755118"/>
            <a:ext cx="6492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Arial"/>
              </a:rPr>
              <a:t>fusion-sim · 50 розрядів · v8 + ImpactNet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1508760"/>
            <a:ext cx="4343400" cy="301752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16368" y="1669694"/>
            <a:ext cx="3941063" cy="2695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Тип ознак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Arial"/>
              </a:rPr>
              <a:t>100 діагностик + маски відмов + 18 фізичних величин; згортки + GRU + фізичне апріорі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Механізм визначено в 10 з 12 зривів: межа Грінвальда 7/7, радіація 3/3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Кінк 0/2 — частку q95 недооцінено (17 % → 5 %): калібрування q95 для безшумного рушія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0" y="4709160"/>
          <a:ext cx="4343400" cy="98755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8288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F46E5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EE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F46E5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EEF2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механізм вгадано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10 / 12 (83 %)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R² λ (toksym, тест)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