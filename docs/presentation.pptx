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 доповіді: прогнозування зривів плазми в токамаці в реальному часі за даними 100 діагностик симулятора JET-подібної установки. Результати: модель раннього попередження без формул шпаргалки і без підказок симулятора,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передвісник, далі термічне гасіння за 1–2 мс. Модель отримує 100 діагностичних сигналів кожні 5 мс і повертає ймовірність зриву лише з минулих даних. Тривога зараховується, якщо випереджає термічне гасіння щонайменше на заданий запас; поріг підбирається під бюджет хибних тривог. Інтегральна метрика — об'єм, середня площа під кривою TPR(FPR) за запасами 10 мс–1 с. На рисунку — реальні сигнали розряду: густина повільно зростає до межі, модель б'є тривогу за 1,24 с до гасіння.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0,69, тобто на ранньому горизонті рішення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Перевірено п'ять гіпотез. Чотири підтверджено. Четверта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моделі: момент і механізм.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сидами, навчальна і тестова вибірки не перетинаються. Оцінка — офіційний засіб toksym score на чотирьох наборах, 747 розрядів, 228 зривів. Моделі порівнюються парним бутстрепом на тих самих розрядах, критерій прийняття P &gt; 0,9 зафіксовано до експерименту. Ознаки причинні, той самий код працює у навчанні та в заліку; мітку сценарію і формули шпаргалки вилучено, щоб уникнути витоку інформації.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не характеризує модель: його підбирає засіб оцінки під бюджет хибних тривог, а шкала ймовірностей у різних моделей різна — у XGBoost 0,73–0,76, у наших 0,23–0,42. На малій вибірці поріг ще й нестабільний: у прогоні симулятора 50 розрядів, 35 тихих, бюджет 5 % дозволяє одну хибну тривогу; один тихий розряд задає поріг 0,398, і частка вчасних тривог на 0,1 с — 25 %; при двох дозволених — 67 %. Тому порівнюємо ROC AUC — площу під кривою TPR(FPR), яка від порогу не залежить.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і міткою сценарію досягали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мс; вимогу реального часу порушено, тому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57–67 % і 0–1 пропущених. Висновок: визначальна інформація — динаміка сигналу, а не статичні фізичні проксі. Картки моделей — у додатку 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сигналів сідлової петлі і зондів Мірнова, команди актуаторів. Голова A — класифікатор «гасіння не пізніше 0,1 с», голова B — «не пізніше 4,5 с». Вихід — максимум, обнуління на запрограмованому спаді струму, згладжування, біжучий максимум. Дерева перетворено в масиви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внеску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в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протилежно на межу Грінвальда і на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нейронів: межа Грінвальда, кінк, радіація, Тройон, інші. Кожен нейрон — параметрична форма ризику симулятора плюс навчена поправка,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лише 0,78: зрив — пуассонівський процес, тихі розряди теж наближаються до меж. Тому функції розділено: модель тривоги визначає момент, ImpactNet — механізм. На реальній установці λ невідома; ImpactNet навчено лише за моментами зривів через пуассонівську правдоподібність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Симулятор fusion-sim з керуванням у реальному часі: модель тривоги, ImpactNet і порадник. Замкнений контур на 40 розрядах: 11 зривів без керування, 5 з керуванням. Атрибуція на новому рушії: 10 з 12 механізмів, межа Грінвальда і радіація — без помилок; кінк недооцінено. Рушій не моделює шум діагностик, тому калібрування моделей, навчених на шумних даних, переноситься не повністю; наступний крок — додати вимірювальний тракт toksym.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раннього попередження без формул і без підказок симулятора: об'єм 0,924 проти 0,765, ROC AUC 0,998 на 30 мс. ImpactNet визначає механізм зриву: 49 з 49. Замкнений контур удвічі зменшує кількість зривів. Поріг спрацювання неінформативний, моделі порівнюються за ROC AUC.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Arial"/>
              </a:rPr>
              <a:t>Хакатон ФМФ КПІ, 9–11 жовтня 2026 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F172A"/>
                </a:solidFill>
                <a:latin typeface="Arial"/>
              </a:rPr>
              <a:t>Прогнозування та атрибуція зривів плазми в токамаці в реальному часі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475569"/>
                </a:solidFill>
                <a:latin typeface="Arial"/>
              </a:rPr>
              <a:t>Модель раннього попередження за 100 діагностиками, нейромережа ImpactNet з фізичним апріорі та замкнений контур керування в симуляторі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Дмитрій Почко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Олександр Чорій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Ілля Симоненко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Олена Сергієнко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Софія Щербина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Фізичний процес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запуск зриву, передвісник (запирання моди, locked mode) 50–100 мс, термічне гасіння 1–2 мс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Вхідні дані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100 діагностик з кроком 5 мс: магнітні зонди, інтерферометр, ECE, болометри, SXR, газонапуск, нагрів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Задача машинного навчання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онлайн-класифікація часового ряду: p(t) ∈ [0, 1] лише з минулих значень, не довше 5 мс на крок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Критерій якості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тривога не пізніше ніж за lead до гасіння при частці хибних тривог не вище бюджету; об'єм — середня AUC за запасами від 0,01 до 1 с</a:t>
            </a:r>
          </a:p>
        </p:txBody>
      </p:sp>
      <p:pic>
        <p:nvPicPr>
          <p:cNvPr id="5" name="Picture 4" descr="shot_sig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325880"/>
            <a:ext cx="5897880" cy="3705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076756"/>
            <a:ext cx="5897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 – Діагностичні сигнали розряду з граничною густиною: тривога моделі (пунктир) і термічне гасіння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C2410C"/>
                </a:solidFill>
                <a:latin typeface="Arial"/>
              </a:rPr>
              <a:t>0,765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об'єм заліку базового рішення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0,688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0,1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0,935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7223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Принцип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на частці межі Грінвальда f_GW і сигналі запирання моди із сідлової петлі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1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одна фізична величина: кінк-нестійкість (q95) і радіаційний колапс не враховано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2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відсутність пам'яті: миттєве значення без трендів і передісторії розряду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3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шум і дрейф калібрування діагностик безпосередньо зсувають поріг спрацювання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Мета роботи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раніше виявляти зрив при тому самому бюджеті хибних тривог і визначати його механізм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ROC AUC на рівні розрядів, офіційний засіб оцінки toksym score (набори сид 1 і сид 1 shift)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 – Гіпотези та результати їх перевірки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10996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4937760"/>
                <a:gridCol w="3794760"/>
                <a:gridCol w="182880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Гіпотеза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Результат перевірки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Висновок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Поєднання детектора передвісника і раннього попередження перевершує одну 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+0,16 об'єму до базового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Формули шпаргалки не є необхідними для якісного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без них об'єм 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Мітка сценарію в метаданих є артефактом симулятора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scen_none виключає зарахований зрив; вилучення: −0,01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Точна інтенсивність зриву λ достатня для тривоги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істинна λ дає об'єм лише 0,78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Фізичне апріорі забезпечує атрибуцію механізмів без розмітки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49 з 49 з апріорі, 41 з 49 без нього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Незалежні вибірки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генерація за сидами; навчання на 4 500 розрядах, тест на 4 офіційних наборах (747 розрядів, 228 зривів)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Засіб оцінки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офіційний toksym score; спонтанні зриви і контакт зі стінкою виключено правилами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Статистичне порівняння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парний бутстреп на тих самих розрядах; критерій прийняття P &gt; 0,9 визначено апріорі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49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Причинність ознак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використовуються лише минулі значення; один і той самий клас ознак у навчанні і на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Відтворюваність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результати на ноутбуці і на сервері збігаються, оскільки симулятор детермінований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Відсутність витоку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вилучено мітку сценарію та формули шпаргалки; мітки використовуються лише як ціль навчання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2 – ROC AUC на рівні розрядів залежно від запасу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6751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(фінальна)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Офіційні набори toksym score (базове рішення — 2 набори)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25880"/>
            <a:ext cx="4069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Шкала ймовірностей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при бюджеті 5 % поріг XGBoost становить 0,73–0,76, наших моделей 0,23–0,42; порівнювати пороги некоректно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Нестабільність порогу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 малих вибірках поріг задає один тихий розряд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52044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3 – Поріг і частка вчасних тривог (50 розрядів)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3886200"/>
          <a:ext cx="4069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051560"/>
                <a:gridCol w="14173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562356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Симулятор fusion-sim, модель v8: ROC AUC 0,885 (0,1 с) і 0,983 (30 мс)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334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0669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 – Об'єм офіційного заліку для послідовних версій моделі (747 розрядів)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7160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Фізичні ознаки і сценарій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v6 і v8: 0,937–0,944; використовують формули шпаргалки і мітку сценарію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Без формул і сценарію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clean: 0,914; на 4 500 розрядах 0,924 (парний бутстреп, P = 0,97)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Відхилено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ансамбль ens5: 0,930, але 3 мс на крок і 16 % кроків понад 5 мс на ноутбуці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 Порівняльний аналіз моделей на спільній вибірці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pic>
        <p:nvPicPr>
          <p:cNvPr id="4" name="Picture 3" descr="ui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772400" cy="36101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6011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3 – Частка вчасних тривог і кількість пропущених зривів на спільних 200 розрядах (запас 0,1 с, бюджет 5 %)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280160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4 – Узагальнення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595360" y="1645920"/>
          <a:ext cx="3063240" cy="21214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25880"/>
                <a:gridCol w="868680"/>
                <a:gridCol w="86868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наші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25–35 %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57–67 %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пропущено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5–9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0–1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медіана випередження,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0,67–0,90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0,94–1,42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595360" y="4023360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Визначальна інформація — динаміка сигналу (тренди, передвісник), а не статичні фізичні проксі.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35808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45536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EMA 50 мс, 250 мс, 1 с;
тренди; передвісник;
актуатори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047488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0" y="13258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3990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1546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32278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4,5 с)
раннє попередження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6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2461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2024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0 на запрограмованому спаді струму,
згладжування, біжучий максимум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4 – Структурна схема моделі раннього попередження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Реалізація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інференс на numpy, 0,9 мс на крок; навчання на 4 500 розрядах з поділом за сидами; без формул шпаргалки і без мітки сценарію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pic>
        <p:nvPicPr>
          <p:cNvPr id="4" name="Picture 3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8138160" cy="4063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89433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5 – Ймовірність моделі раннього попередження (зверху) і розклад інтенсивності зриву ImpactNet (знизу)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3716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випередження тривоги (поріг для FPR 5 %)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432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98–100 %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внесок межі Грінвальда (f_GW →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1148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λ ImpactNet і істинна λ у момент зриву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B45309"/>
                </a:solidFill>
                <a:latin typeface="Arial"/>
              </a:rPr>
              <a:t>λ = 1 − Π(1 − rᵢ³)(1 − r_lm),   rᵢ = σ((xᵢ − cᵢ)/wᵢ),   </a:t>
            </a:r>
            <a:r>
              <a:rPr sz="1700" b="0" i="0">
                <a:solidFill>
                  <a:srgbClr val="475569"/>
                </a:solidFill>
                <a:latin typeface="Arial"/>
              </a:rPr>
              <a:t>P(зрив за час h) = 1 − exp(−∫λ dt)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5 – Операційні межі та керувальні впливи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10996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Зв'язаність впливів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струм плазми діє протилежно на межу Грінвальда і на кінк-нестійкість; густина релаксує за ~0,3 с, неон накопичується за ~0,5 с, тому керування має випереджати тривогу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100 діагностик,
маски відмов,
18 фізичних величин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305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93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фізичне
апріорі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6 – Структурна схема ImpactNet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7040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Виходи визначаються однозначно через внески механізмів: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частка механізму = 100·Cₖ / ΣC, де Cₖ = −ln(1 − rₖᵖ); сума часток дорівнює 100 %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exp(−ΣC)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P(зрив за час h) = 1 − exp(−λh)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37160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механізм зриву у момент запуску (20 Грінвальд, 15 кінк, 14 радіація)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R² інтенсивності зриву λ на тестовій вибірці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E7490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тривалість кроку інференсу (numpy)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200 тестових розрядів; порівняння архітектур: GRU ≈ LSTM ≈ TCN &gt; модель без пам'яті; обрано GRU (стан O(1) у потоці)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pic>
        <p:nvPicPr>
          <p:cNvPr id="4" name="Picture 3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394960" cy="4016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4270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7 – Об'єм як сигнал тривоги на 200 тестових розрядах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303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Розподіл функцій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модель раннього попередження визначає момент зриву, ImpactNet — його механізм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Навчання без розмітки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пуассонівська правдоподібність Σ log λ(t_зриву) − ∫λ dt; λ не потрібна як мітка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6 – Атрибуція механізмів залежно від способу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3566160"/>
          <a:ext cx="53035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14630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спосіб навчання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зривів, з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 Замкнений контур керування в симуляторі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303860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sim_impact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29837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30962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8 – Атрибуція механізмів зриву в симуляторі fusion-sim (50 розрядів): 10 з 12 (поле «поріг» замінено на ROC AUC цього прогону)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41141"/>
            <a:ext cx="60350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32581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а на 50 розрядах поріг задає один тихий розряд (див. розділ 5); тому наведено ROC AUC.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371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600" b="1" i="0">
                <a:solidFill>
                  <a:srgbClr val="C2410C"/>
                </a:solidFill>
                <a:latin typeface="Arial"/>
              </a:rPr>
              <a:t>11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зривів на 40 розрядах з автокеруванням і без нього (−55 %)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880360"/>
            <a:ext cx="47091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Контур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діагностики, модель тривоги, ImpactNet, порадник, зміна уставок; цикл 5 мс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Обмеження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40 розрядів; рушій без шуму діагностик; кінк недооцінено (0 з 2)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Наступні кроки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вимірювальний тракт toksym у fusion-sim, 200 розрядів, оцінка ціни керування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14 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78638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Модель раннього попередження без формул шпаргалки і мітки сценарію досягає об'єму 0,924 (базове рішення 0,765) і ROC AUC 0,998 на запасі 30 мс.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Нейромережа ImpactNet визначає механізм зриву в 49 з 49 випадків і відтворює інтенсивність зриву з R² 0,996; з фізичним апріорі вона навчається і без розмітки λ.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спрацювання не характеризує модель; коректне порівняння — за ROC AUC.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4.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Замкнений контур керування в симуляторі зменшує кількість зривів з 11 до 5 на 40 розрядах; потрібна перевірка з шумом діагностик на більшій вибірці.</a:t>
            </a:r>
          </a:p>
        </p:txBody>
      </p:sp>
      <p:pic>
        <p:nvPicPr>
          <p:cNvPr id="5" name="Picture 4" descr="rep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371600"/>
            <a:ext cx="246888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3977639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github.com/llllenah/plasma-disruption-prediction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15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А.1 XGBoost на сирих, фізичних і динамічних ознаках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486400" cy="908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243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9 – Physics: 25,4 % вчасно, пропущено 6 (поле «поріг» замінено на ROC AUC; ROC AUC валідаційна, по кроках)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727792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55224"/>
            <a:ext cx="5486400" cy="908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718225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10 – Dynamics: 34,9 % вчасно, пропущено 9 (поле «поріг» замінено на ROC AUC; ROC AUC валідаційна, по кроках)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4202857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xgb_formula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30289"/>
            <a:ext cx="5486400" cy="9081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519329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11 – Formula: 25,4 % вчасно, пропущено 5 (поле «поріг» замінено на ROC AUC; ROC AUC валідаційна, по кроках)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687066"/>
            <a:ext cx="54864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778506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325880"/>
            <a:ext cx="4343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градієнтний бустинг на кожному кроці без пам'яті; варіанти Raw, Physics, Dynamics, Formula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Physics додає 25 агрегатів (потужність нагріву, хорди, RMS Мірнова, Dα, ECE, болометри)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Dynamics додає 119 часових ознак: лаги 5–100 мс, різниці, швидкості, ковзні статистики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Formula додає 5 проксі формул шпаргалки (лише для порівняння)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7 – Показники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0" y="4069080"/>
          <a:ext cx="4343400" cy="6949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валідаційна (по кроках)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0,94–0,96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А.2 v6 і v6b: двоголовий бустинг з фізичними ознаками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7245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6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175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526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12 – v6: 63,5 %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37242"/>
            <a:ext cx="6547103" cy="8663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v6b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64674"/>
            <a:ext cx="6492240" cy="8115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31068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13 – v6b: 57,1 % вчасно на спільній вибірці, пропущено 1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4844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1628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сирі канали, формули шпаргалки (f_GW, q95, βN, P_rad/P_in) і мітка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дві голови HGB: передвісник (≤ 0,1 с) і раннє попередження (≤ 4,5 с)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v6b — варіант з іншим налаштуванням голови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8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 v6b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А.3 v8: фізичні ознаки і детектор передвісника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45564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8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4007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735806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14 – v8 в інтерфейсі організаторів (фото екрана): 66,7 % вчасно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3220438"/>
            <a:ext cx="6089903" cy="16357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v8_new_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7870"/>
            <a:ext cx="6035040" cy="158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8359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15 – v8 у симуляторі fusion-sim: 51,0 % вчасно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ознаки v6, енергія швидкої складової сідлової петлі і зондів Мірнова, оцінка λ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найвищий об'єм (0,944), але використовує формули шпаргалки і мітку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у безшумному симуляторі fusion-sim (200 розрядів): 51 % вчасно, пропущено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9 – Показники (офіційні набори toksym)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А.4 nocs: без формул шпаргалки, з міткою сценарію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89161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nocs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836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17177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16 – nocs в інтерфейсі (фото екрана): 65,1 % вчасно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уставки, детектор передвісника, мітка сценарію і таймери програми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формули шпаргалки вилучено, мітку сценарію залишено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мітка scen_none гарантує відсутність зарахованого зриву, тобто є артефактом симулятора; модель не обрано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10 – Показники (офіційні набори toksym)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А.5 clean_big: фінальне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i_clean_big_01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17 – clean_big, запас 0,1 с: 63,5 % вчасно,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63885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clean_big_003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91317"/>
            <a:ext cx="6492240" cy="8442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904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18 – clean_big, запас 30 мс: 96,8 % вчасно, пропущено 0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84186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75626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 і команди актуаторів, Dα, Мірнов, SXR, ECE, детектор передвісника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без формул шпаргалки, мітки сценарію і таймерів; 4 500 навчальних розрядів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0,9 мс на крок; 0,2 % кроків понад 5 мс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11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А.6 Ансамбль ens5: відхилено через затримку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ens5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19 – ens5: 60,3 %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73029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64469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5 моделей clean на бутстреп-вибірках 9 000 розрядів, усереднення логітів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об'єм 0,930 (+0,006, P = 0,99), але 3 мс на крок і 16 % кроків понад 5 мс на ноутбуці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вимогу реального часу порушено, до здачі не прийнято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12 – Показники (офіційні набори toksym)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А.7 ImpactNet у симуляторі fusion-sim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326464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sim_impact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32097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44806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20 – ImpactNet у симуляторі fusion-sim, 50 розрядів (поле «поріг» замінено на ROC AUC; ROC AUC цього прогону)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38582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30022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100 діагностик, маски відмов, 18 фізичних величин; згортки, GRU, фізичне апріорі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механізм визначено в 10 з 12 зривів: межа Грінвальда 7 з 7, радіація 3 з 3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кінк 0 з 2: частку q95 недооцінено (17 % → 5 %); потрібне калібрування для безшумного рушія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13 – Показники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10 з 12 (83 %)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 (цей прогін)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R² λ (toksym, тест)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